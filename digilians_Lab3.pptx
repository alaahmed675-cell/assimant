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345" r:id="rId5"/>
    <p:sldId id="367" r:id="rId6"/>
    <p:sldId id="257" r:id="rId7"/>
    <p:sldId id="268" r:id="rId8"/>
    <p:sldId id="267" r:id="rId9"/>
    <p:sldId id="334" r:id="rId10"/>
    <p:sldId id="336" r:id="rId11"/>
    <p:sldId id="341" r:id="rId12"/>
    <p:sldId id="269" r:id="rId13"/>
    <p:sldId id="337" r:id="rId14"/>
    <p:sldId id="340" r:id="rId15"/>
    <p:sldId id="270" r:id="rId16"/>
    <p:sldId id="271" r:id="rId17"/>
    <p:sldId id="338" r:id="rId18"/>
    <p:sldId id="272" r:id="rId19"/>
    <p:sldId id="273" r:id="rId20"/>
    <p:sldId id="339" r:id="rId21"/>
    <p:sldId id="327" r:id="rId22"/>
    <p:sldId id="342" r:id="rId23"/>
    <p:sldId id="343" r:id="rId24"/>
    <p:sldId id="344" r:id="rId25"/>
    <p:sldId id="346" r:id="rId26"/>
    <p:sldId id="290"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g1dd9c56de53_0_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0" name="Google Shape;90;g1dd9c56de53_0_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 name="Shape 95"/>
        <p:cNvGrpSpPr/>
        <p:nvPr/>
      </p:nvGrpSpPr>
      <p:grpSpPr>
        <a:xfrm>
          <a:off x="0" y="0"/>
          <a:ext cx="0" cy="0"/>
          <a:chOff x="0" y="0"/>
          <a:chExt cx="0" cy="0"/>
        </a:xfrm>
      </p:grpSpPr>
      <p:sp>
        <p:nvSpPr>
          <p:cNvPr id="96" name="Google Shape;96;g1dd9c56de53_0_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7" name="Google Shape;97;g1dd9c56de53_0_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7" name="Shape 187"/>
        <p:cNvGrpSpPr/>
        <p:nvPr/>
      </p:nvGrpSpPr>
      <p:grpSpPr>
        <a:xfrm>
          <a:off x="0" y="0"/>
          <a:ext cx="0" cy="0"/>
          <a:chOff x="0" y="0"/>
          <a:chExt cx="0" cy="0"/>
        </a:xfrm>
      </p:grpSpPr>
      <p:sp>
        <p:nvSpPr>
          <p:cNvPr id="188" name="Google Shape;188;g218b78c8972_0_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18b78c8972_0_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0" name="Google Shape;190;g218b78c8972_0_8:notes"/>
          <p:cNvSpPr txBox="1"/>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g217f3d6c9bc_0_9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17f3d6c9bc_0_9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1" name="Google Shape;181;g217f3d6c9bc_0_94:notes"/>
          <p:cNvSpPr txBox="1"/>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5" name="Shape 195"/>
        <p:cNvGrpSpPr/>
        <p:nvPr/>
      </p:nvGrpSpPr>
      <p:grpSpPr>
        <a:xfrm>
          <a:off x="0" y="0"/>
          <a:ext cx="0" cy="0"/>
          <a:chOff x="0" y="0"/>
          <a:chExt cx="0" cy="0"/>
        </a:xfrm>
      </p:grpSpPr>
      <p:sp>
        <p:nvSpPr>
          <p:cNvPr id="196" name="Google Shape;196;g218b78c8972_0_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18b78c8972_0_1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8" name="Google Shape;198;g218b78c8972_0_15:notes"/>
          <p:cNvSpPr txBox="1"/>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5" name="Shape 205"/>
        <p:cNvGrpSpPr/>
        <p:nvPr/>
      </p:nvGrpSpPr>
      <p:grpSpPr>
        <a:xfrm>
          <a:off x="0" y="0"/>
          <a:ext cx="0" cy="0"/>
          <a:chOff x="0" y="0"/>
          <a:chExt cx="0" cy="0"/>
        </a:xfrm>
      </p:grpSpPr>
      <p:sp>
        <p:nvSpPr>
          <p:cNvPr id="206" name="Google Shape;206;g218b78c8972_0_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218b78c8972_0_2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8" name="Google Shape;208;g218b78c8972_0_22:notes"/>
          <p:cNvSpPr txBox="1"/>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g218b78c8972_0_3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18b78c8972_0_3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6" name="Google Shape;216;g218b78c8972_0_32:notes"/>
          <p:cNvSpPr txBox="1"/>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 name="Shape 221"/>
        <p:cNvGrpSpPr/>
        <p:nvPr/>
      </p:nvGrpSpPr>
      <p:grpSpPr>
        <a:xfrm>
          <a:off x="0" y="0"/>
          <a:ext cx="0" cy="0"/>
          <a:chOff x="0" y="0"/>
          <a:chExt cx="0" cy="0"/>
        </a:xfrm>
      </p:grpSpPr>
      <p:sp>
        <p:nvSpPr>
          <p:cNvPr id="222" name="Google Shape;222;g218b78c8972_0_5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18b78c8972_0_5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4" name="Google Shape;224;g218b78c8972_0_51:notes"/>
          <p:cNvSpPr txBox="1"/>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9" name="Shape 229"/>
        <p:cNvGrpSpPr/>
        <p:nvPr/>
      </p:nvGrpSpPr>
      <p:grpSpPr>
        <a:xfrm>
          <a:off x="0" y="0"/>
          <a:ext cx="0" cy="0"/>
          <a:chOff x="0" y="0"/>
          <a:chExt cx="0" cy="0"/>
        </a:xfrm>
      </p:grpSpPr>
      <p:sp>
        <p:nvSpPr>
          <p:cNvPr id="230" name="Google Shape;230;g218b78c8972_0_6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18b78c8972_0_6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2" name="Google Shape;232;g218b78c8972_0_62:notes"/>
          <p:cNvSpPr txBox="1"/>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g21fa6cd92dd_0_496: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1fa6cd92dd_0_49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5" name="Shape 365"/>
        <p:cNvGrpSpPr/>
        <p:nvPr/>
      </p:nvGrpSpPr>
      <p:grpSpPr>
        <a:xfrm>
          <a:off x="0" y="0"/>
          <a:ext cx="0" cy="0"/>
          <a:chOff x="0" y="0"/>
          <a:chExt cx="0" cy="0"/>
        </a:xfrm>
      </p:grpSpPr>
      <p:sp>
        <p:nvSpPr>
          <p:cNvPr id="366" name="Google Shape;366;g1dd9c56de53_0_34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7" name="Google Shape;367;g1dd9c56de53_0_34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7" name="Shape 27"/>
        <p:cNvGrpSpPr/>
        <p:nvPr/>
      </p:nvGrpSpPr>
      <p:grpSpPr>
        <a:xfrm>
          <a:off x="0" y="0"/>
          <a:ext cx="0" cy="0"/>
          <a:chOff x="0" y="0"/>
          <a:chExt cx="0" cy="0"/>
        </a:xfrm>
      </p:grpSpPr>
      <p:sp>
        <p:nvSpPr>
          <p:cNvPr id="28" name="Google Shape;28;p4"/>
          <p:cNvSpPr txBox="1"/>
          <p:nvPr>
            <p:ph type="title"/>
          </p:nvPr>
        </p:nvSpPr>
        <p:spPr>
          <a:xfrm>
            <a:off x="972600" y="1758200"/>
            <a:ext cx="10251600" cy="713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dk1"/>
              </a:buClr>
              <a:buSzPts val="2600"/>
              <a:buFont typeface="Calibri" panose="020F0502020204030204"/>
              <a:buNone/>
              <a:defRPr sz="3465"/>
            </a:lvl1pPr>
            <a:lvl2pPr lvl="1">
              <a:spcBef>
                <a:spcPts val="0"/>
              </a:spcBef>
              <a:spcAft>
                <a:spcPts val="0"/>
              </a:spcAft>
              <a:buSzPts val="2600"/>
              <a:buNone/>
              <a:defRPr sz="3465"/>
            </a:lvl2pPr>
            <a:lvl3pPr lvl="2">
              <a:spcBef>
                <a:spcPts val="0"/>
              </a:spcBef>
              <a:spcAft>
                <a:spcPts val="0"/>
              </a:spcAft>
              <a:buSzPts val="2600"/>
              <a:buNone/>
              <a:defRPr sz="3465"/>
            </a:lvl3pPr>
            <a:lvl4pPr lvl="3">
              <a:spcBef>
                <a:spcPts val="0"/>
              </a:spcBef>
              <a:spcAft>
                <a:spcPts val="0"/>
              </a:spcAft>
              <a:buSzPts val="2600"/>
              <a:buNone/>
              <a:defRPr sz="3465"/>
            </a:lvl4pPr>
            <a:lvl5pPr lvl="4">
              <a:spcBef>
                <a:spcPts val="0"/>
              </a:spcBef>
              <a:spcAft>
                <a:spcPts val="0"/>
              </a:spcAft>
              <a:buSzPts val="2600"/>
              <a:buNone/>
              <a:defRPr sz="3465"/>
            </a:lvl5pPr>
            <a:lvl6pPr lvl="5">
              <a:spcBef>
                <a:spcPts val="0"/>
              </a:spcBef>
              <a:spcAft>
                <a:spcPts val="0"/>
              </a:spcAft>
              <a:buSzPts val="2600"/>
              <a:buNone/>
              <a:defRPr sz="3465"/>
            </a:lvl6pPr>
            <a:lvl7pPr lvl="6">
              <a:spcBef>
                <a:spcPts val="0"/>
              </a:spcBef>
              <a:spcAft>
                <a:spcPts val="0"/>
              </a:spcAft>
              <a:buSzPts val="2600"/>
              <a:buNone/>
              <a:defRPr sz="3465"/>
            </a:lvl7pPr>
            <a:lvl8pPr lvl="7">
              <a:spcBef>
                <a:spcPts val="0"/>
              </a:spcBef>
              <a:spcAft>
                <a:spcPts val="0"/>
              </a:spcAft>
              <a:buSzPts val="2600"/>
              <a:buNone/>
              <a:defRPr sz="3465"/>
            </a:lvl8pPr>
            <a:lvl9pPr lvl="8">
              <a:spcBef>
                <a:spcPts val="0"/>
              </a:spcBef>
              <a:spcAft>
                <a:spcPts val="0"/>
              </a:spcAft>
              <a:buSzPts val="2600"/>
              <a:buNone/>
              <a:defRPr sz="3465"/>
            </a:lvl9pPr>
          </a:lstStyle>
          <a:p/>
        </p:txBody>
      </p:sp>
      <p:sp>
        <p:nvSpPr>
          <p:cNvPr id="29" name="Google Shape;29;p4"/>
          <p:cNvSpPr txBox="1"/>
          <p:nvPr>
            <p:ph type="body" idx="1"/>
          </p:nvPr>
        </p:nvSpPr>
        <p:spPr>
          <a:xfrm>
            <a:off x="972600" y="2771833"/>
            <a:ext cx="10251600" cy="3014800"/>
          </a:xfrm>
          <a:prstGeom prst="rect">
            <a:avLst/>
          </a:prstGeom>
          <a:noFill/>
          <a:ln>
            <a:noFill/>
          </a:ln>
        </p:spPr>
        <p:txBody>
          <a:bodyPr spcFirstLastPara="1" wrap="square" lIns="91425" tIns="91425" rIns="91425" bIns="91425" anchor="t" anchorCtr="0">
            <a:normAutofit/>
          </a:bodyPr>
          <a:lstStyle>
            <a:lvl1pPr marL="457200" lvl="0" indent="-311150" algn="l">
              <a:lnSpc>
                <a:spcPct val="90000"/>
              </a:lnSpc>
              <a:spcBef>
                <a:spcPts val="0"/>
              </a:spcBef>
              <a:spcAft>
                <a:spcPts val="0"/>
              </a:spcAft>
              <a:buClr>
                <a:schemeClr val="dk1"/>
              </a:buClr>
              <a:buSzPts val="1300"/>
              <a:buChar char="●"/>
              <a:defRPr/>
            </a:lvl1pPr>
            <a:lvl2pPr marL="914400" lvl="1" indent="-298450" algn="l">
              <a:lnSpc>
                <a:spcPct val="90000"/>
              </a:lnSpc>
              <a:spcBef>
                <a:spcPts val="0"/>
              </a:spcBef>
              <a:spcAft>
                <a:spcPts val="0"/>
              </a:spcAft>
              <a:buClr>
                <a:schemeClr val="dk1"/>
              </a:buClr>
              <a:buSzPts val="1100"/>
              <a:buChar char="○"/>
              <a:defRPr/>
            </a:lvl2pPr>
            <a:lvl3pPr marL="1371600" lvl="2" indent="-298450" algn="l">
              <a:lnSpc>
                <a:spcPct val="90000"/>
              </a:lnSpc>
              <a:spcBef>
                <a:spcPts val="0"/>
              </a:spcBef>
              <a:spcAft>
                <a:spcPts val="0"/>
              </a:spcAft>
              <a:buClr>
                <a:schemeClr val="dk1"/>
              </a:buClr>
              <a:buSzPts val="1100"/>
              <a:buChar char="■"/>
              <a:defRPr/>
            </a:lvl3pPr>
            <a:lvl4pPr marL="1828800" lvl="3" indent="-298450" algn="l">
              <a:lnSpc>
                <a:spcPct val="90000"/>
              </a:lnSpc>
              <a:spcBef>
                <a:spcPts val="0"/>
              </a:spcBef>
              <a:spcAft>
                <a:spcPts val="0"/>
              </a:spcAft>
              <a:buClr>
                <a:schemeClr val="dk1"/>
              </a:buClr>
              <a:buSzPts val="1100"/>
              <a:buChar char="●"/>
              <a:defRPr/>
            </a:lvl4pPr>
            <a:lvl5pPr marL="2286000" lvl="4" indent="-298450" algn="l">
              <a:lnSpc>
                <a:spcPct val="90000"/>
              </a:lnSpc>
              <a:spcBef>
                <a:spcPts val="0"/>
              </a:spcBef>
              <a:spcAft>
                <a:spcPts val="0"/>
              </a:spcAft>
              <a:buClr>
                <a:schemeClr val="dk1"/>
              </a:buClr>
              <a:buSzPts val="1100"/>
              <a:buChar char="○"/>
              <a:defRPr/>
            </a:lvl5pPr>
            <a:lvl6pPr marL="2743200" lvl="5" indent="-298450" algn="l">
              <a:lnSpc>
                <a:spcPct val="90000"/>
              </a:lnSpc>
              <a:spcBef>
                <a:spcPts val="0"/>
              </a:spcBef>
              <a:spcAft>
                <a:spcPts val="0"/>
              </a:spcAft>
              <a:buClr>
                <a:schemeClr val="dk1"/>
              </a:buClr>
              <a:buSzPts val="1100"/>
              <a:buChar char="■"/>
              <a:defRPr/>
            </a:lvl6pPr>
            <a:lvl7pPr marL="3200400" lvl="6" indent="-298450" algn="l">
              <a:lnSpc>
                <a:spcPct val="90000"/>
              </a:lnSpc>
              <a:spcBef>
                <a:spcPts val="0"/>
              </a:spcBef>
              <a:spcAft>
                <a:spcPts val="0"/>
              </a:spcAft>
              <a:buClr>
                <a:schemeClr val="dk1"/>
              </a:buClr>
              <a:buSzPts val="1100"/>
              <a:buChar char="●"/>
              <a:defRPr/>
            </a:lvl7pPr>
            <a:lvl8pPr marL="3657600" lvl="7" indent="-298450" algn="l">
              <a:lnSpc>
                <a:spcPct val="90000"/>
              </a:lnSpc>
              <a:spcBef>
                <a:spcPts val="0"/>
              </a:spcBef>
              <a:spcAft>
                <a:spcPts val="0"/>
              </a:spcAft>
              <a:buClr>
                <a:schemeClr val="dk1"/>
              </a:buClr>
              <a:buSzPts val="1100"/>
              <a:buChar char="○"/>
              <a:defRPr/>
            </a:lvl8pPr>
            <a:lvl9pPr marL="4114800" lvl="8" indent="-298450" algn="l">
              <a:lnSpc>
                <a:spcPct val="90000"/>
              </a:lnSpc>
              <a:spcBef>
                <a:spcPts val="0"/>
              </a:spcBef>
              <a:spcAft>
                <a:spcPts val="0"/>
              </a:spcAft>
              <a:buClr>
                <a:schemeClr val="dk1"/>
              </a:buClr>
              <a:buSzPts val="1100"/>
              <a:buChar char="■"/>
              <a:defRPr/>
            </a:lvl9pPr>
          </a:lstStyle>
          <a:p/>
        </p:txBody>
      </p:sp>
      <p:sp>
        <p:nvSpPr>
          <p:cNvPr id="30" name="Google Shape;30;p4"/>
          <p:cNvSpPr txBox="1"/>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888888"/>
              </a:buClr>
              <a:buSzPts val="1200"/>
              <a:buFont typeface="Calibri" panose="020F0502020204030204"/>
              <a:buNone/>
              <a:defRPr sz="12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Clr>
                <a:srgbClr val="888888"/>
              </a:buClr>
              <a:buSzPts val="1200"/>
              <a:buFont typeface="Calibri" panose="020F0502020204030204"/>
              <a:buNone/>
              <a:defRPr sz="12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Clr>
                <a:srgbClr val="888888"/>
              </a:buClr>
              <a:buSzPts val="1200"/>
              <a:buFont typeface="Calibri" panose="020F0502020204030204"/>
              <a:buNone/>
              <a:defRPr sz="12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Clr>
                <a:srgbClr val="888888"/>
              </a:buClr>
              <a:buSzPts val="1200"/>
              <a:buFont typeface="Calibri" panose="020F0502020204030204"/>
              <a:buNone/>
              <a:defRPr sz="12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Clr>
                <a:srgbClr val="888888"/>
              </a:buClr>
              <a:buSzPts val="1200"/>
              <a:buFont typeface="Calibri" panose="020F0502020204030204"/>
              <a:buNone/>
              <a:defRPr sz="12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Clr>
                <a:srgbClr val="888888"/>
              </a:buClr>
              <a:buSzPts val="1200"/>
              <a:buFont typeface="Calibri" panose="020F0502020204030204"/>
              <a:buNone/>
              <a:defRPr sz="12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Clr>
                <a:srgbClr val="888888"/>
              </a:buClr>
              <a:buSzPts val="1200"/>
              <a:buFont typeface="Calibri" panose="020F0502020204030204"/>
              <a:buNone/>
              <a:defRPr sz="12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Clr>
                <a:srgbClr val="888888"/>
              </a:buClr>
              <a:buSzPts val="1200"/>
              <a:buFont typeface="Calibri" panose="020F0502020204030204"/>
              <a:buNone/>
              <a:defRPr sz="12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Clr>
                <a:srgbClr val="888888"/>
              </a:buClr>
              <a:buSzPts val="1200"/>
              <a:buFont typeface="Calibri" panose="020F0502020204030204"/>
              <a:buNone/>
              <a:defRPr sz="12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6" name="Shape 36"/>
        <p:cNvGrpSpPr/>
        <p:nvPr/>
      </p:nvGrpSpPr>
      <p:grpSpPr>
        <a:xfrm>
          <a:off x="0" y="0"/>
          <a:ext cx="0" cy="0"/>
          <a:chOff x="0" y="0"/>
          <a:chExt cx="0" cy="0"/>
        </a:xfrm>
      </p:grpSpPr>
      <p:sp>
        <p:nvSpPr>
          <p:cNvPr id="37" name="Google Shape;37;p6"/>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42" name="Shape 42"/>
        <p:cNvGrpSpPr/>
        <p:nvPr/>
      </p:nvGrpSpPr>
      <p:grpSpPr>
        <a:xfrm>
          <a:off x="0" y="0"/>
          <a:ext cx="0" cy="0"/>
          <a:chOff x="0" y="0"/>
          <a:chExt cx="0" cy="0"/>
        </a:xfrm>
      </p:grpSpPr>
      <p:sp>
        <p:nvSpPr>
          <p:cNvPr id="43" name="Google Shape;43;p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5" name="Google Shape;45;p7"/>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2" name="Google Shape;52;p8"/>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3" name="Google Shape;53;p8"/>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4" name="Google Shape;54;p8"/>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5" name="Google Shape;55;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8" name="Shape 58"/>
        <p:cNvGrpSpPr/>
        <p:nvPr/>
      </p:nvGrpSpPr>
      <p:grpSpPr>
        <a:xfrm>
          <a:off x="0" y="0"/>
          <a:ext cx="0" cy="0"/>
          <a:chOff x="0" y="0"/>
          <a:chExt cx="0" cy="0"/>
        </a:xfrm>
      </p:grpSpPr>
      <p:sp>
        <p:nvSpPr>
          <p:cNvPr id="59" name="Google Shape;59;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0"/>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5" name="Google Shape;65;p10"/>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6" name="Google Shape;66;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9" name="Shape 69"/>
        <p:cNvGrpSpPr/>
        <p:nvPr/>
      </p:nvGrpSpPr>
      <p:grpSpPr>
        <a:xfrm>
          <a:off x="0" y="0"/>
          <a:ext cx="0" cy="0"/>
          <a:chOff x="0" y="0"/>
          <a:chExt cx="0" cy="0"/>
        </a:xfrm>
      </p:grpSpPr>
      <p:sp>
        <p:nvSpPr>
          <p:cNvPr id="70" name="Google Shape;70;p11"/>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p:nvPr>
            <p:ph type="pic" idx="2"/>
          </p:nvPr>
        </p:nvSpPr>
        <p:spPr>
          <a:xfrm>
            <a:off x="5183188" y="987425"/>
            <a:ext cx="6172200" cy="4873625"/>
          </a:xfrm>
          <a:prstGeom prst="rect">
            <a:avLst/>
          </a:prstGeom>
          <a:noFill/>
          <a:ln>
            <a:noFill/>
          </a:ln>
        </p:spPr>
      </p:sp>
      <p:sp>
        <p:nvSpPr>
          <p:cNvPr id="72" name="Google Shape;72;p11"/>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3" name="Google Shape;73;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6" name="Shape 76"/>
        <p:cNvGrpSpPr/>
        <p:nvPr/>
      </p:nvGrpSpPr>
      <p:grpSpPr>
        <a:xfrm>
          <a:off x="0" y="0"/>
          <a:ext cx="0" cy="0"/>
          <a:chOff x="0" y="0"/>
          <a:chExt cx="0" cy="0"/>
        </a:xfrm>
      </p:grpSpPr>
      <p:sp>
        <p:nvSpPr>
          <p:cNvPr id="77" name="Google Shape;77;p12"/>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2"/>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9" name="Google Shape;79;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2" name="Shape 82"/>
        <p:cNvGrpSpPr/>
        <p:nvPr/>
      </p:nvGrpSpPr>
      <p:grpSpPr>
        <a:xfrm>
          <a:off x="0" y="0"/>
          <a:ext cx="0" cy="0"/>
          <a:chOff x="0" y="0"/>
          <a:chExt cx="0" cy="0"/>
        </a:xfrm>
      </p:grpSpPr>
      <p:sp>
        <p:nvSpPr>
          <p:cNvPr id="83" name="Google Shape;83;p13"/>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3"/>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5" name="Google Shape;85;p1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0.png"/><Relationship Id="rId1"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sp>
        <p:nvSpPr>
          <p:cNvPr id="92" name="Google Shape;92;p14"/>
          <p:cNvSpPr txBox="1"/>
          <p:nvPr>
            <p:ph type="ctrTitle"/>
          </p:nvPr>
        </p:nvSpPr>
        <p:spPr>
          <a:xfrm>
            <a:off x="601345" y="1122680"/>
            <a:ext cx="10066655" cy="2387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800"/>
              <a:buFont typeface="Calibri" panose="020F0502020204030204"/>
              <a:buNone/>
            </a:pPr>
            <a:r>
              <a:rPr lang="en-US" altLang="en-US" sz="4800" dirty="0">
                <a:sym typeface="+mn-ea"/>
              </a:rPr>
              <a:t>Foundations of Software Development</a:t>
            </a:r>
            <a:endParaRPr lang="en-US" sz="4800"/>
          </a:p>
        </p:txBody>
      </p:sp>
      <p:sp>
        <p:nvSpPr>
          <p:cNvPr id="93" name="Google Shape;93;p14"/>
          <p:cNvSpPr txBox="1"/>
          <p:nvPr>
            <p:ph type="subTitle" idx="1"/>
          </p:nvPr>
        </p:nvSpPr>
        <p:spPr>
          <a:xfrm>
            <a:off x="719455" y="3535045"/>
            <a:ext cx="9948545" cy="172275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a:t>LAB 03 :  Loops</a:t>
            </a:r>
            <a:endParaRPr lang="en-US"/>
          </a:p>
          <a:p>
            <a:pPr marL="0" lvl="0" indent="0" algn="l" rtl="0">
              <a:lnSpc>
                <a:spcPct val="90000"/>
              </a:lnSpc>
              <a:spcBef>
                <a:spcPts val="1000"/>
              </a:spcBef>
              <a:spcAft>
                <a:spcPts val="0"/>
              </a:spcAft>
              <a:buClr>
                <a:schemeClr val="dk1"/>
              </a:buClr>
              <a:buSzPts val="2400"/>
              <a:buNone/>
            </a:pPr>
          </a:p>
        </p:txBody>
      </p:sp>
      <p:sp>
        <p:nvSpPr>
          <p:cNvPr id="94" name="Google Shape;94;p14"/>
          <p:cNvSpPr txBox="1"/>
          <p:nvPr/>
        </p:nvSpPr>
        <p:spPr>
          <a:xfrm flipH="1">
            <a:off x="1523908" y="5550971"/>
            <a:ext cx="2369100" cy="3670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27</a:t>
            </a:r>
            <a: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/12/2025</a:t>
            </a:r>
            <a:endPar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Recap</a:t>
            </a:r>
            <a:endParaRPr lang="en-US"/>
          </a:p>
        </p:txBody>
      </p:sp>
      <p:sp>
        <p:nvSpPr>
          <p:cNvPr id="3" name="Text Placeholder 2"/>
          <p:cNvSpPr/>
          <p:nvPr>
            <p:ph type="body" idx="1"/>
          </p:nvPr>
        </p:nvSpPr>
        <p:spPr/>
        <p:txBody>
          <a:bodyPr/>
          <a:p>
            <a:r>
              <a:rPr lang="en-US"/>
              <a:t>To comment</a:t>
            </a:r>
            <a:endParaRPr lang="en-US"/>
          </a:p>
          <a:p>
            <a:pPr marL="114300" indent="0">
              <a:buNone/>
            </a:pPr>
            <a:r>
              <a:rPr lang="en-US"/>
              <a:t>    // -------------&gt; for single line</a:t>
            </a:r>
            <a:endParaRPr lang="en-US"/>
          </a:p>
          <a:p>
            <a:pPr marL="114300" indent="0">
              <a:buNone/>
            </a:pPr>
            <a:r>
              <a:rPr lang="en-US"/>
              <a:t>   /* */ ---------&gt; </a:t>
            </a:r>
            <a:r>
              <a:rPr lang="en-US">
                <a:sym typeface="+mn-ea"/>
              </a:rPr>
              <a:t>for multiple lines</a:t>
            </a:r>
            <a:endParaRPr lang="en-US">
              <a:sym typeface="+mn-ea"/>
            </a:endParaRPr>
          </a:p>
          <a:p>
            <a:pPr marL="114300" indent="0">
              <a:buNone/>
            </a:pPr>
            <a:endParaRPr lang="en-US"/>
          </a:p>
          <a:p>
            <a:r>
              <a:rPr lang="en-US"/>
              <a:t>int x = 10;</a:t>
            </a:r>
            <a:endParaRPr lang="en-US"/>
          </a:p>
          <a:p>
            <a:r>
              <a:rPr lang="en-US"/>
              <a:t>cout&lt;&lt;x++&lt;&lt;endl; </a:t>
            </a:r>
            <a:endParaRPr lang="en-US"/>
          </a:p>
          <a:p>
            <a:r>
              <a:rPr lang="en-US"/>
              <a:t>cout&lt;&lt;++x&lt;&lt;endl;</a:t>
            </a:r>
            <a:endParaRPr lang="en-US"/>
          </a:p>
        </p:txBody>
      </p:sp>
      <p:sp>
        <p:nvSpPr>
          <p:cNvPr id="4" name="Text Box 3"/>
          <p:cNvSpPr txBox="1"/>
          <p:nvPr/>
        </p:nvSpPr>
        <p:spPr>
          <a:xfrm>
            <a:off x="6024245" y="4437380"/>
            <a:ext cx="2122170" cy="953135"/>
          </a:xfrm>
          <a:prstGeom prst="rect">
            <a:avLst/>
          </a:prstGeom>
          <a:noFill/>
        </p:spPr>
        <p:txBody>
          <a:bodyPr wrap="square" rtlCol="0">
            <a:spAutoFit/>
          </a:bodyPr>
          <a:p>
            <a:r>
              <a:rPr lang="en-US" sz="2800"/>
              <a:t>10</a:t>
            </a:r>
            <a:endParaRPr lang="en-US" sz="2800"/>
          </a:p>
          <a:p>
            <a:r>
              <a:rPr lang="en-US" sz="2800"/>
              <a:t>12</a:t>
            </a:r>
            <a:endParaRPr 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Condtions </a:t>
            </a:r>
            <a:endParaRPr lang="en-US"/>
          </a:p>
        </p:txBody>
      </p:sp>
      <p:pic>
        <p:nvPicPr>
          <p:cNvPr id="141" name="Google Shape;141;p20"/>
          <p:cNvPicPr preferRelativeResize="0"/>
          <p:nvPr>
            <p:ph type="body" idx="2"/>
          </p:nvPr>
        </p:nvPicPr>
        <p:blipFill rotWithShape="1">
          <a:blip r:embed="rId1"/>
          <a:srcRect/>
          <a:stretch>
            <a:fillRect/>
          </a:stretch>
        </p:blipFill>
        <p:spPr>
          <a:xfrm>
            <a:off x="2368550" y="1557020"/>
            <a:ext cx="5849620" cy="469963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8" name="Shape 98"/>
        <p:cNvGrpSpPr/>
        <p:nvPr/>
      </p:nvGrpSpPr>
      <p:grpSpPr>
        <a:xfrm>
          <a:off x="0" y="0"/>
          <a:ext cx="0" cy="0"/>
          <a:chOff x="0" y="0"/>
          <a:chExt cx="0" cy="0"/>
        </a:xfrm>
      </p:grpSpPr>
      <p:sp>
        <p:nvSpPr>
          <p:cNvPr id="99" name="Google Shape;99;p15"/>
          <p:cNvSpPr txBox="1"/>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t>Content</a:t>
            </a:r>
            <a:endParaRPr lang="en-US"/>
          </a:p>
        </p:txBody>
      </p:sp>
      <p:sp>
        <p:nvSpPr>
          <p:cNvPr id="100" name="Google Shape;100;p15"/>
          <p:cNvSpPr txBox="1"/>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dk1"/>
              </a:buClr>
              <a:buSzPts val="2800"/>
              <a:buChar char="•"/>
            </a:pPr>
            <a:r>
              <a:rPr lang="en-US" sz="4000"/>
              <a:t> for loop</a:t>
            </a:r>
            <a:endParaRPr lang="en-US" sz="4000"/>
          </a:p>
          <a:p>
            <a:pPr marL="228600" lvl="0" indent="-228600" algn="l" rtl="0">
              <a:lnSpc>
                <a:spcPct val="90000"/>
              </a:lnSpc>
              <a:spcBef>
                <a:spcPts val="1000"/>
              </a:spcBef>
              <a:spcAft>
                <a:spcPts val="0"/>
              </a:spcAft>
              <a:buClr>
                <a:schemeClr val="dk1"/>
              </a:buClr>
              <a:buSzPts val="2800"/>
              <a:buChar char="•"/>
            </a:pPr>
            <a:r>
              <a:rPr lang="en-US" sz="4000"/>
              <a:t> while loop</a:t>
            </a:r>
            <a:endParaRPr lang="en-US" sz="4000"/>
          </a:p>
          <a:p>
            <a:pPr marL="228600" lvl="0" indent="-228600" algn="l" rtl="0">
              <a:lnSpc>
                <a:spcPct val="90000"/>
              </a:lnSpc>
              <a:spcBef>
                <a:spcPts val="1000"/>
              </a:spcBef>
              <a:spcAft>
                <a:spcPts val="0"/>
              </a:spcAft>
              <a:buClr>
                <a:schemeClr val="dk1"/>
              </a:buClr>
              <a:buSzPts val="2800"/>
              <a:buChar char="•"/>
            </a:pPr>
            <a:r>
              <a:rPr lang="en-US" sz="4000"/>
              <a:t> do while</a:t>
            </a:r>
            <a:endParaRPr lang="en-US" sz="4000"/>
          </a:p>
          <a:p>
            <a:pPr marL="0" lvl="0" indent="0" algn="l" rtl="0">
              <a:lnSpc>
                <a:spcPct val="90000"/>
              </a:lnSpc>
              <a:spcBef>
                <a:spcPts val="1000"/>
              </a:spcBef>
              <a:spcAft>
                <a:spcPts val="0"/>
              </a:spcAft>
              <a:buClr>
                <a:schemeClr val="dk1"/>
              </a:buClr>
              <a:buSzPts val="2800"/>
              <a:buNone/>
            </a:pPr>
            <a:endParaRPr lang="en-US" sz="4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91" name="Shape 191"/>
        <p:cNvGrpSpPr/>
        <p:nvPr/>
      </p:nvGrpSpPr>
      <p:grpSpPr>
        <a:xfrm>
          <a:off x="0" y="0"/>
          <a:ext cx="0" cy="0"/>
          <a:chOff x="0" y="0"/>
          <a:chExt cx="0" cy="0"/>
        </a:xfrm>
      </p:grpSpPr>
      <p:sp>
        <p:nvSpPr>
          <p:cNvPr id="192" name="Google Shape;192;p26"/>
          <p:cNvSpPr txBox="1"/>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571500" lvl="0" indent="-571500" algn="l" rtl="0">
              <a:spcBef>
                <a:spcPts val="0"/>
              </a:spcBef>
              <a:spcAft>
                <a:spcPts val="0"/>
              </a:spcAft>
              <a:buFont typeface="Arial" panose="020B0604020202020204" pitchFamily="34" charset="0"/>
              <a:buChar char="•"/>
            </a:pPr>
            <a:r>
              <a:rPr lang="en-US"/>
              <a:t>for Loop syntax</a:t>
            </a:r>
            <a:endParaRPr lang="en-US"/>
          </a:p>
        </p:txBody>
      </p:sp>
      <p:pic>
        <p:nvPicPr>
          <p:cNvPr id="194" name="Google Shape;194;p26"/>
          <p:cNvPicPr preferRelativeResize="0"/>
          <p:nvPr/>
        </p:nvPicPr>
        <p:blipFill>
          <a:blip r:embed="rId1"/>
          <a:stretch>
            <a:fillRect/>
          </a:stretch>
        </p:blipFill>
        <p:spPr>
          <a:xfrm>
            <a:off x="975995" y="1409700"/>
            <a:ext cx="10282555" cy="5029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838200" y="365125"/>
            <a:ext cx="10515600" cy="5412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For Loop</a:t>
            </a:r>
            <a:endParaRPr lang="en-US"/>
          </a:p>
        </p:txBody>
      </p:sp>
      <p:pic>
        <p:nvPicPr>
          <p:cNvPr id="184" name="Google Shape;184;p25"/>
          <p:cNvPicPr preferRelativeResize="0"/>
          <p:nvPr/>
        </p:nvPicPr>
        <p:blipFill>
          <a:blip r:embed="rId1"/>
          <a:stretch>
            <a:fillRect/>
          </a:stretch>
        </p:blipFill>
        <p:spPr>
          <a:xfrm>
            <a:off x="838200" y="1064075"/>
            <a:ext cx="11049000" cy="2171700"/>
          </a:xfrm>
          <a:prstGeom prst="rect">
            <a:avLst/>
          </a:prstGeom>
          <a:noFill/>
          <a:ln>
            <a:noFill/>
          </a:ln>
        </p:spPr>
      </p:pic>
      <p:sp>
        <p:nvSpPr>
          <p:cNvPr id="185" name="Google Shape;185;p25"/>
          <p:cNvSpPr txBox="1"/>
          <p:nvPr/>
        </p:nvSpPr>
        <p:spPr>
          <a:xfrm>
            <a:off x="900800" y="3301100"/>
            <a:ext cx="7402200" cy="9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panose="020B0604020202020204"/>
              <a:buNone/>
            </a:pPr>
            <a:r>
              <a:rPr lang="en-US" sz="1700">
                <a:latin typeface="Calibri" panose="020F0502020204030204"/>
                <a:ea typeface="Calibri" panose="020F0502020204030204"/>
                <a:cs typeface="Calibri" panose="020F0502020204030204"/>
                <a:sym typeface="Calibri" panose="020F0502020204030204"/>
              </a:rPr>
              <a:t>The </a:t>
            </a:r>
            <a:r>
              <a:rPr lang="en-US" sz="1700" b="1" u="sng">
                <a:solidFill>
                  <a:srgbClr val="FF0000"/>
                </a:solidFill>
                <a:latin typeface="Calibri" panose="020F0502020204030204"/>
                <a:ea typeface="Calibri" panose="020F0502020204030204"/>
                <a:cs typeface="Calibri" panose="020F0502020204030204"/>
                <a:sym typeface="Calibri" panose="020F0502020204030204"/>
              </a:rPr>
              <a:t>expression1 </a:t>
            </a:r>
            <a:r>
              <a:rPr lang="en-US" sz="1700">
                <a:latin typeface="Calibri" panose="020F0502020204030204"/>
                <a:ea typeface="Calibri" panose="020F0502020204030204"/>
                <a:cs typeface="Calibri" panose="020F0502020204030204"/>
                <a:sym typeface="Calibri" panose="020F0502020204030204"/>
              </a:rPr>
              <a:t>is the initialization expression.</a:t>
            </a:r>
            <a:endParaRPr sz="1700">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Clr>
                <a:schemeClr val="dk1"/>
              </a:buClr>
              <a:buSzPts val="1100"/>
              <a:buFont typeface="Arial" panose="020B0604020202020204"/>
              <a:buNone/>
            </a:pPr>
            <a:r>
              <a:rPr lang="en-US" sz="1700">
                <a:latin typeface="Calibri" panose="020F0502020204030204"/>
                <a:ea typeface="Calibri" panose="020F0502020204030204"/>
                <a:cs typeface="Calibri" panose="020F0502020204030204"/>
                <a:sym typeface="Calibri" panose="020F0502020204030204"/>
              </a:rPr>
              <a:t>The </a:t>
            </a:r>
            <a:r>
              <a:rPr lang="en-US" sz="1700" b="1" u="sng">
                <a:solidFill>
                  <a:srgbClr val="FF0000"/>
                </a:solidFill>
                <a:latin typeface="Calibri" panose="020F0502020204030204"/>
                <a:ea typeface="Calibri" panose="020F0502020204030204"/>
                <a:cs typeface="Calibri" panose="020F0502020204030204"/>
                <a:sym typeface="Calibri" panose="020F0502020204030204"/>
              </a:rPr>
              <a:t>expression2 </a:t>
            </a:r>
            <a:r>
              <a:rPr lang="en-US" sz="1700">
                <a:latin typeface="Calibri" panose="020F0502020204030204"/>
                <a:ea typeface="Calibri" panose="020F0502020204030204"/>
                <a:cs typeface="Calibri" panose="020F0502020204030204"/>
                <a:sym typeface="Calibri" panose="020F0502020204030204"/>
              </a:rPr>
              <a:t>is the test expression or condition.</a:t>
            </a:r>
            <a:endParaRPr sz="1700">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US" sz="1700">
                <a:latin typeface="Calibri" panose="020F0502020204030204"/>
                <a:ea typeface="Calibri" panose="020F0502020204030204"/>
                <a:cs typeface="Calibri" panose="020F0502020204030204"/>
                <a:sym typeface="Calibri" panose="020F0502020204030204"/>
              </a:rPr>
              <a:t>The </a:t>
            </a:r>
            <a:r>
              <a:rPr lang="en-US" sz="1700" b="1" u="sng">
                <a:solidFill>
                  <a:srgbClr val="FF0000"/>
                </a:solidFill>
                <a:latin typeface="Calibri" panose="020F0502020204030204"/>
                <a:ea typeface="Calibri" panose="020F0502020204030204"/>
                <a:cs typeface="Calibri" panose="020F0502020204030204"/>
                <a:sym typeface="Calibri" panose="020F0502020204030204"/>
              </a:rPr>
              <a:t>expression3</a:t>
            </a:r>
            <a:r>
              <a:rPr lang="en-US" sz="1700">
                <a:latin typeface="Calibri" panose="020F0502020204030204"/>
                <a:ea typeface="Calibri" panose="020F0502020204030204"/>
                <a:cs typeface="Calibri" panose="020F0502020204030204"/>
                <a:sym typeface="Calibri" panose="020F0502020204030204"/>
              </a:rPr>
              <a:t> is the update expression.</a:t>
            </a:r>
            <a:endParaRPr sz="1700">
              <a:latin typeface="Calibri" panose="020F0502020204030204"/>
              <a:ea typeface="Calibri" panose="020F0502020204030204"/>
              <a:cs typeface="Calibri" panose="020F0502020204030204"/>
              <a:sym typeface="Calibri" panose="020F0502020204030204"/>
            </a:endParaRPr>
          </a:p>
        </p:txBody>
      </p:sp>
      <p:sp>
        <p:nvSpPr>
          <p:cNvPr id="186" name="Google Shape;186;p25"/>
          <p:cNvSpPr txBox="1"/>
          <p:nvPr/>
        </p:nvSpPr>
        <p:spPr>
          <a:xfrm>
            <a:off x="838200" y="4336025"/>
            <a:ext cx="10722300" cy="21240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Font typeface="Calibri" panose="020F0502020204030204"/>
              <a:buChar char="●"/>
            </a:pPr>
            <a:r>
              <a:rPr lang="en-US" sz="1800">
                <a:latin typeface="Calibri" panose="020F0502020204030204"/>
                <a:ea typeface="Calibri" panose="020F0502020204030204"/>
                <a:cs typeface="Calibri" panose="020F0502020204030204"/>
                <a:sym typeface="Calibri" panose="020F0502020204030204"/>
              </a:rPr>
              <a:t>First, the initialization expression is executed (i.e </a:t>
            </a:r>
            <a:r>
              <a:rPr lang="en-US" sz="1800" b="1" u="sng">
                <a:solidFill>
                  <a:srgbClr val="FF0000"/>
                </a:solidFill>
                <a:latin typeface="Calibri" panose="020F0502020204030204"/>
                <a:ea typeface="Calibri" panose="020F0502020204030204"/>
                <a:cs typeface="Calibri" panose="020F0502020204030204"/>
                <a:sym typeface="Calibri" panose="020F0502020204030204"/>
              </a:rPr>
              <a:t>expression1 </a:t>
            </a:r>
            <a:r>
              <a:rPr lang="en-US" sz="1800">
                <a:latin typeface="Calibri" panose="020F0502020204030204"/>
                <a:ea typeface="Calibri" panose="020F0502020204030204"/>
                <a:cs typeface="Calibri" panose="020F0502020204030204"/>
                <a:sym typeface="Calibri" panose="020F0502020204030204"/>
              </a:rPr>
              <a:t>) to initialize loop variables. The </a:t>
            </a:r>
            <a:r>
              <a:rPr lang="en-US" sz="1800" b="1" u="sng">
                <a:solidFill>
                  <a:srgbClr val="FF0000"/>
                </a:solidFill>
                <a:latin typeface="Calibri" panose="020F0502020204030204"/>
                <a:ea typeface="Calibri" panose="020F0502020204030204"/>
                <a:cs typeface="Calibri" panose="020F0502020204030204"/>
                <a:sym typeface="Calibri" panose="020F0502020204030204"/>
              </a:rPr>
              <a:t>expression1 </a:t>
            </a:r>
            <a:r>
              <a:rPr lang="en-US" sz="1800">
                <a:latin typeface="Calibri" panose="020F0502020204030204"/>
                <a:ea typeface="Calibri" panose="020F0502020204030204"/>
                <a:cs typeface="Calibri" panose="020F0502020204030204"/>
                <a:sym typeface="Calibri" panose="020F0502020204030204"/>
              </a:rPr>
              <a:t>executes only once when the loop starts.</a:t>
            </a:r>
            <a:endParaRPr sz="1800">
              <a:latin typeface="Calibri" panose="020F0502020204030204"/>
              <a:ea typeface="Calibri" panose="020F0502020204030204"/>
              <a:cs typeface="Calibri" panose="020F0502020204030204"/>
              <a:sym typeface="Calibri" panose="020F0502020204030204"/>
            </a:endParaRPr>
          </a:p>
          <a:p>
            <a:pPr marL="457200" lvl="0" indent="-342900" algn="l" rtl="0">
              <a:spcBef>
                <a:spcPts val="0"/>
              </a:spcBef>
              <a:spcAft>
                <a:spcPts val="0"/>
              </a:spcAft>
              <a:buSzPts val="1800"/>
              <a:buFont typeface="Calibri" panose="020F0502020204030204"/>
              <a:buChar char="●"/>
            </a:pPr>
            <a:r>
              <a:rPr lang="en-US" sz="1800">
                <a:latin typeface="Calibri" panose="020F0502020204030204"/>
                <a:ea typeface="Calibri" panose="020F0502020204030204"/>
                <a:cs typeface="Calibri" panose="020F0502020204030204"/>
                <a:sym typeface="Calibri" panose="020F0502020204030204"/>
              </a:rPr>
              <a:t>the condition is checked (i.e </a:t>
            </a:r>
            <a:r>
              <a:rPr lang="en-US" sz="1800" b="1" u="sng">
                <a:solidFill>
                  <a:srgbClr val="FF0000"/>
                </a:solidFill>
                <a:latin typeface="Calibri" panose="020F0502020204030204"/>
                <a:ea typeface="Calibri" panose="020F0502020204030204"/>
                <a:cs typeface="Calibri" panose="020F0502020204030204"/>
                <a:sym typeface="Calibri" panose="020F0502020204030204"/>
              </a:rPr>
              <a:t>expression2 </a:t>
            </a:r>
            <a:r>
              <a:rPr lang="en-US" sz="1800">
                <a:latin typeface="Calibri" panose="020F0502020204030204"/>
                <a:ea typeface="Calibri" panose="020F0502020204030204"/>
                <a:cs typeface="Calibri" panose="020F0502020204030204"/>
                <a:sym typeface="Calibri" panose="020F0502020204030204"/>
              </a:rPr>
              <a:t>), if it is true, then the body of the loop is executed.</a:t>
            </a:r>
            <a:endParaRPr sz="1800">
              <a:latin typeface="Calibri" panose="020F0502020204030204"/>
              <a:ea typeface="Calibri" panose="020F0502020204030204"/>
              <a:cs typeface="Calibri" panose="020F0502020204030204"/>
              <a:sym typeface="Calibri" panose="020F0502020204030204"/>
            </a:endParaRPr>
          </a:p>
          <a:p>
            <a:pPr marL="457200" lvl="0" indent="-342900" algn="l" rtl="0">
              <a:spcBef>
                <a:spcPts val="0"/>
              </a:spcBef>
              <a:spcAft>
                <a:spcPts val="0"/>
              </a:spcAft>
              <a:buSzPts val="1800"/>
              <a:buFont typeface="Calibri" panose="020F0502020204030204"/>
              <a:buChar char="●"/>
            </a:pPr>
            <a:r>
              <a:rPr lang="en-US" sz="1800">
                <a:latin typeface="Calibri" panose="020F0502020204030204"/>
                <a:ea typeface="Calibri" panose="020F0502020204030204"/>
                <a:cs typeface="Calibri" panose="020F0502020204030204"/>
                <a:sym typeface="Calibri" panose="020F0502020204030204"/>
              </a:rPr>
              <a:t>After executing the loop body the program control is transferred to the update expression ( </a:t>
            </a:r>
            <a:r>
              <a:rPr lang="en-US" sz="1800" b="1" u="sng">
                <a:solidFill>
                  <a:srgbClr val="FF0000"/>
                </a:solidFill>
                <a:latin typeface="Calibri" panose="020F0502020204030204"/>
                <a:ea typeface="Calibri" panose="020F0502020204030204"/>
                <a:cs typeface="Calibri" panose="020F0502020204030204"/>
                <a:sym typeface="Calibri" panose="020F0502020204030204"/>
              </a:rPr>
              <a:t>expression3</a:t>
            </a:r>
            <a:r>
              <a:rPr lang="en-US" sz="1800">
                <a:latin typeface="Calibri" panose="020F0502020204030204"/>
                <a:ea typeface="Calibri" panose="020F0502020204030204"/>
                <a:cs typeface="Calibri" panose="020F0502020204030204"/>
                <a:sym typeface="Calibri" panose="020F0502020204030204"/>
              </a:rPr>
              <a:t>).</a:t>
            </a:r>
            <a:endParaRPr sz="1800">
              <a:latin typeface="Calibri" panose="020F0502020204030204"/>
              <a:ea typeface="Calibri" panose="020F0502020204030204"/>
              <a:cs typeface="Calibri" panose="020F0502020204030204"/>
              <a:sym typeface="Calibri" panose="020F0502020204030204"/>
            </a:endParaRPr>
          </a:p>
          <a:p>
            <a:pPr marL="457200" lvl="0" indent="-342900" algn="l" rtl="0">
              <a:spcBef>
                <a:spcPts val="0"/>
              </a:spcBef>
              <a:spcAft>
                <a:spcPts val="0"/>
              </a:spcAft>
              <a:buSzPts val="1800"/>
              <a:buFont typeface="Calibri" panose="020F0502020204030204"/>
              <a:buChar char="●"/>
            </a:pPr>
            <a:r>
              <a:rPr lang="en-US" sz="1800">
                <a:latin typeface="Calibri" panose="020F0502020204030204"/>
                <a:ea typeface="Calibri" panose="020F0502020204030204"/>
                <a:cs typeface="Calibri" panose="020F0502020204030204"/>
                <a:sym typeface="Calibri" panose="020F0502020204030204"/>
              </a:rPr>
              <a:t>The </a:t>
            </a:r>
            <a:r>
              <a:rPr lang="en-US" sz="1800" b="1" u="sng">
                <a:solidFill>
                  <a:srgbClr val="FF0000"/>
                </a:solidFill>
                <a:latin typeface="Calibri" panose="020F0502020204030204"/>
                <a:ea typeface="Calibri" panose="020F0502020204030204"/>
                <a:cs typeface="Calibri" panose="020F0502020204030204"/>
                <a:sym typeface="Calibri" panose="020F0502020204030204"/>
              </a:rPr>
              <a:t>expression3 </a:t>
            </a:r>
            <a:r>
              <a:rPr lang="en-US" sz="1800">
                <a:latin typeface="Calibri" panose="020F0502020204030204"/>
                <a:ea typeface="Calibri" panose="020F0502020204030204"/>
                <a:cs typeface="Calibri" panose="020F0502020204030204"/>
                <a:sym typeface="Calibri" panose="020F0502020204030204"/>
              </a:rPr>
              <a:t>modifies the loop variables. Then the condition (i.e </a:t>
            </a:r>
            <a:r>
              <a:rPr lang="en-US" sz="1800" b="1" u="sng">
                <a:solidFill>
                  <a:srgbClr val="FF0000"/>
                </a:solidFill>
                <a:latin typeface="Calibri" panose="020F0502020204030204"/>
                <a:ea typeface="Calibri" panose="020F0502020204030204"/>
                <a:cs typeface="Calibri" panose="020F0502020204030204"/>
                <a:sym typeface="Calibri" panose="020F0502020204030204"/>
              </a:rPr>
              <a:t>expression2</a:t>
            </a:r>
            <a:r>
              <a:rPr lang="en-US" sz="1800">
                <a:latin typeface="Calibri" panose="020F0502020204030204"/>
                <a:ea typeface="Calibri" panose="020F0502020204030204"/>
                <a:cs typeface="Calibri" panose="020F0502020204030204"/>
                <a:sym typeface="Calibri" panose="020F0502020204030204"/>
              </a:rPr>
              <a:t>) is checked again. If the condition is still true the body of the loop is executed once more. This process continues until the expression2 becomes false.</a:t>
            </a:r>
            <a:endParaRPr sz="1800">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for loop example</a:t>
            </a:r>
            <a:endParaRPr lang="en-US"/>
          </a:p>
        </p:txBody>
      </p:sp>
      <p:pic>
        <p:nvPicPr>
          <p:cNvPr id="4" name="Picture 3"/>
          <p:cNvPicPr>
            <a:picLocks noChangeAspect="1"/>
          </p:cNvPicPr>
          <p:nvPr/>
        </p:nvPicPr>
        <p:blipFill>
          <a:blip r:embed="rId1"/>
          <a:stretch>
            <a:fillRect/>
          </a:stretch>
        </p:blipFill>
        <p:spPr>
          <a:xfrm>
            <a:off x="479425" y="1484630"/>
            <a:ext cx="5393690" cy="5140960"/>
          </a:xfrm>
          <a:prstGeom prst="rect">
            <a:avLst/>
          </a:prstGeom>
        </p:spPr>
      </p:pic>
      <p:sp>
        <p:nvSpPr>
          <p:cNvPr id="6" name="Text Box 5"/>
          <p:cNvSpPr txBox="1"/>
          <p:nvPr/>
        </p:nvSpPr>
        <p:spPr>
          <a:xfrm>
            <a:off x="8080375" y="2853055"/>
            <a:ext cx="3232150" cy="2676525"/>
          </a:xfrm>
          <a:prstGeom prst="rect">
            <a:avLst/>
          </a:prstGeom>
          <a:solidFill>
            <a:schemeClr val="accent2"/>
          </a:solidFill>
        </p:spPr>
        <p:txBody>
          <a:bodyPr wrap="square" rtlCol="0">
            <a:spAutoFit/>
          </a:bodyPr>
          <a:p>
            <a:pPr algn="ctr"/>
            <a:r>
              <a:rPr lang="en-US" sz="2800">
                <a:solidFill>
                  <a:schemeClr val="tx1"/>
                </a:solidFill>
              </a:rPr>
              <a:t>output:</a:t>
            </a:r>
            <a:endParaRPr lang="en-US" sz="2800">
              <a:solidFill>
                <a:schemeClr val="tx1"/>
              </a:solidFill>
            </a:endParaRPr>
          </a:p>
          <a:p>
            <a:pPr algn="ctr"/>
            <a:r>
              <a:rPr lang="en-US" sz="2800">
                <a:solidFill>
                  <a:schemeClr val="tx1"/>
                </a:solidFill>
              </a:rPr>
              <a:t>0</a:t>
            </a:r>
            <a:endParaRPr lang="en-US" sz="2800">
              <a:solidFill>
                <a:schemeClr val="tx1"/>
              </a:solidFill>
            </a:endParaRPr>
          </a:p>
          <a:p>
            <a:pPr algn="ctr"/>
            <a:r>
              <a:rPr lang="en-US" sz="2800">
                <a:solidFill>
                  <a:schemeClr val="tx1"/>
                </a:solidFill>
              </a:rPr>
              <a:t>1</a:t>
            </a:r>
            <a:endParaRPr lang="en-US" sz="2800">
              <a:solidFill>
                <a:schemeClr val="tx1"/>
              </a:solidFill>
            </a:endParaRPr>
          </a:p>
          <a:p>
            <a:pPr algn="ctr"/>
            <a:r>
              <a:rPr lang="en-US" sz="2800">
                <a:solidFill>
                  <a:schemeClr val="tx1"/>
                </a:solidFill>
              </a:rPr>
              <a:t>2</a:t>
            </a:r>
            <a:endParaRPr lang="en-US" sz="2800">
              <a:solidFill>
                <a:schemeClr val="tx1"/>
              </a:solidFill>
            </a:endParaRPr>
          </a:p>
          <a:p>
            <a:pPr algn="ctr"/>
            <a:r>
              <a:rPr lang="en-US" sz="2800">
                <a:solidFill>
                  <a:schemeClr val="tx1"/>
                </a:solidFill>
              </a:rPr>
              <a:t>3</a:t>
            </a:r>
            <a:endParaRPr lang="en-US" sz="2800">
              <a:solidFill>
                <a:schemeClr val="tx1"/>
              </a:solidFill>
            </a:endParaRPr>
          </a:p>
          <a:p>
            <a:pPr algn="ctr"/>
            <a:r>
              <a:rPr lang="en-US" sz="2800">
                <a:solidFill>
                  <a:schemeClr val="tx1"/>
                </a:solidFill>
              </a:rPr>
              <a:t>4</a:t>
            </a:r>
            <a:endParaRPr lang="en-US" sz="28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for loop example</a:t>
            </a:r>
            <a:endParaRPr lang="en-US"/>
          </a:p>
        </p:txBody>
      </p:sp>
      <p:sp>
        <p:nvSpPr>
          <p:cNvPr id="6" name="Text Box 5"/>
          <p:cNvSpPr txBox="1"/>
          <p:nvPr/>
        </p:nvSpPr>
        <p:spPr>
          <a:xfrm>
            <a:off x="8509000" y="2853055"/>
            <a:ext cx="2803525" cy="2676525"/>
          </a:xfrm>
          <a:prstGeom prst="rect">
            <a:avLst/>
          </a:prstGeom>
          <a:solidFill>
            <a:schemeClr val="accent2"/>
          </a:solidFill>
        </p:spPr>
        <p:txBody>
          <a:bodyPr wrap="square" rtlCol="0">
            <a:spAutoFit/>
          </a:bodyPr>
          <a:p>
            <a:pPr algn="ctr"/>
            <a:r>
              <a:rPr lang="en-US" sz="2800">
                <a:solidFill>
                  <a:schemeClr val="tx1"/>
                </a:solidFill>
              </a:rPr>
              <a:t>output:</a:t>
            </a:r>
            <a:endParaRPr lang="en-US" sz="2800">
              <a:solidFill>
                <a:schemeClr val="tx1"/>
              </a:solidFill>
            </a:endParaRPr>
          </a:p>
          <a:p>
            <a:pPr algn="ctr"/>
            <a:r>
              <a:rPr lang="en-US" sz="2800">
                <a:solidFill>
                  <a:schemeClr val="tx1"/>
                </a:solidFill>
              </a:rPr>
              <a:t>0</a:t>
            </a:r>
            <a:endParaRPr lang="en-US" sz="2800">
              <a:solidFill>
                <a:schemeClr val="tx1"/>
              </a:solidFill>
            </a:endParaRPr>
          </a:p>
          <a:p>
            <a:pPr algn="ctr"/>
            <a:r>
              <a:rPr lang="en-US" sz="2800">
                <a:solidFill>
                  <a:schemeClr val="tx1"/>
                </a:solidFill>
              </a:rPr>
              <a:t>1</a:t>
            </a:r>
            <a:endParaRPr lang="en-US" sz="2800">
              <a:solidFill>
                <a:schemeClr val="tx1"/>
              </a:solidFill>
            </a:endParaRPr>
          </a:p>
          <a:p>
            <a:pPr algn="ctr"/>
            <a:r>
              <a:rPr lang="en-US" sz="2800">
                <a:solidFill>
                  <a:schemeClr val="tx1"/>
                </a:solidFill>
              </a:rPr>
              <a:t>2</a:t>
            </a:r>
            <a:endParaRPr lang="en-US" sz="2800">
              <a:solidFill>
                <a:schemeClr val="tx1"/>
              </a:solidFill>
            </a:endParaRPr>
          </a:p>
          <a:p>
            <a:pPr algn="ctr"/>
            <a:r>
              <a:rPr lang="en-US" sz="2800">
                <a:solidFill>
                  <a:schemeClr val="tx1"/>
                </a:solidFill>
              </a:rPr>
              <a:t>3</a:t>
            </a:r>
            <a:endParaRPr lang="en-US" sz="2800">
              <a:solidFill>
                <a:schemeClr val="tx1"/>
              </a:solidFill>
            </a:endParaRPr>
          </a:p>
          <a:p>
            <a:pPr algn="ctr"/>
            <a:r>
              <a:rPr lang="en-US" sz="2800">
                <a:solidFill>
                  <a:schemeClr val="tx1"/>
                </a:solidFill>
              </a:rPr>
              <a:t>4</a:t>
            </a:r>
            <a:endParaRPr lang="en-US" sz="2800">
              <a:solidFill>
                <a:schemeClr val="tx1"/>
              </a:solidFill>
            </a:endParaRPr>
          </a:p>
        </p:txBody>
      </p:sp>
      <p:pic>
        <p:nvPicPr>
          <p:cNvPr id="3" name="Picture 2"/>
          <p:cNvPicPr>
            <a:picLocks noChangeAspect="1"/>
          </p:cNvPicPr>
          <p:nvPr/>
        </p:nvPicPr>
        <p:blipFill>
          <a:blip r:embed="rId1"/>
          <a:stretch>
            <a:fillRect/>
          </a:stretch>
        </p:blipFill>
        <p:spPr>
          <a:xfrm>
            <a:off x="767715" y="1484630"/>
            <a:ext cx="4909820" cy="4930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solidFill>
                  <a:srgbClr val="FF0000"/>
                </a:solidFill>
              </a:rPr>
              <a:t>Important note:</a:t>
            </a:r>
            <a:endParaRPr lang="en-US">
              <a:solidFill>
                <a:srgbClr val="FF0000"/>
              </a:solidFill>
            </a:endParaRPr>
          </a:p>
        </p:txBody>
      </p:sp>
      <p:sp>
        <p:nvSpPr>
          <p:cNvPr id="3" name="Text Placeholder 2"/>
          <p:cNvSpPr/>
          <p:nvPr>
            <p:ph type="body" idx="1"/>
          </p:nvPr>
        </p:nvSpPr>
        <p:spPr/>
        <p:txBody>
          <a:bodyPr/>
          <a:p>
            <a:r>
              <a:rPr lang="en-US"/>
              <a:t>if you created a variable inside a loop you can’t use it outside the loop .</a:t>
            </a:r>
            <a:endParaRPr lang="en-US"/>
          </a:p>
          <a:p>
            <a:endParaRPr lang="en-US"/>
          </a:p>
          <a:p>
            <a:endParaRPr lang="en-US"/>
          </a:p>
          <a:p>
            <a:endParaRPr lang="en-US"/>
          </a:p>
        </p:txBody>
      </p:sp>
      <p:pic>
        <p:nvPicPr>
          <p:cNvPr id="5" name="Picture 4"/>
          <p:cNvPicPr>
            <a:picLocks noChangeAspect="1"/>
          </p:cNvPicPr>
          <p:nvPr/>
        </p:nvPicPr>
        <p:blipFill>
          <a:blip r:embed="rId1"/>
          <a:stretch>
            <a:fillRect/>
          </a:stretch>
        </p:blipFill>
        <p:spPr>
          <a:xfrm>
            <a:off x="1416050" y="2853055"/>
            <a:ext cx="6254115" cy="3460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99" name="Shape 199"/>
        <p:cNvGrpSpPr/>
        <p:nvPr/>
      </p:nvGrpSpPr>
      <p:grpSpPr>
        <a:xfrm>
          <a:off x="0" y="0"/>
          <a:ext cx="0" cy="0"/>
          <a:chOff x="0" y="0"/>
          <a:chExt cx="0" cy="0"/>
        </a:xfrm>
      </p:grpSpPr>
      <p:sp>
        <p:nvSpPr>
          <p:cNvPr id="200" name="Google Shape;200;p27"/>
          <p:cNvSpPr txBox="1"/>
          <p:nvPr>
            <p:ph type="title"/>
          </p:nvPr>
        </p:nvSpPr>
        <p:spPr>
          <a:xfrm>
            <a:off x="838200" y="365125"/>
            <a:ext cx="10515600" cy="13257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t>Write a program that computes and prints the sum of all integers from </a:t>
            </a:r>
            <a:r>
              <a:rPr lang="en-US"/>
              <a:t>0</a:t>
            </a:r>
            <a:r>
              <a:t> to </a:t>
            </a:r>
            <a:r>
              <a:rPr lang="en-US"/>
              <a:t>9</a:t>
            </a:r>
            <a:endParaRPr lang="en-US"/>
          </a:p>
        </p:txBody>
      </p:sp>
      <p:pic>
        <p:nvPicPr>
          <p:cNvPr id="202" name="Google Shape;202;p27"/>
          <p:cNvPicPr preferRelativeResize="0"/>
          <p:nvPr/>
        </p:nvPicPr>
        <p:blipFill>
          <a:blip r:embed="rId1"/>
          <a:stretch>
            <a:fillRect/>
          </a:stretch>
        </p:blipFill>
        <p:spPr>
          <a:xfrm>
            <a:off x="1842770" y="1898015"/>
            <a:ext cx="9511030" cy="4278630"/>
          </a:xfrm>
          <a:prstGeom prst="rect">
            <a:avLst/>
          </a:prstGeom>
          <a:noFill/>
          <a:ln>
            <a:noFill/>
          </a:ln>
        </p:spPr>
      </p:pic>
      <p:pic>
        <p:nvPicPr>
          <p:cNvPr id="203" name="Google Shape;203;p27"/>
          <p:cNvPicPr preferRelativeResize="0"/>
          <p:nvPr/>
        </p:nvPicPr>
        <p:blipFill>
          <a:blip r:embed="rId2"/>
          <a:stretch>
            <a:fillRect/>
          </a:stretch>
        </p:blipFill>
        <p:spPr>
          <a:xfrm>
            <a:off x="6766850" y="5414825"/>
            <a:ext cx="4695850" cy="762000"/>
          </a:xfrm>
          <a:prstGeom prst="rect">
            <a:avLst/>
          </a:prstGeom>
          <a:noFill/>
          <a:ln>
            <a:noFill/>
          </a:ln>
        </p:spPr>
      </p:pic>
      <p:pic>
        <p:nvPicPr>
          <p:cNvPr id="204" name="Google Shape;204;p27"/>
          <p:cNvPicPr preferRelativeResize="0"/>
          <p:nvPr/>
        </p:nvPicPr>
        <p:blipFill>
          <a:blip r:embed="rId3"/>
          <a:stretch>
            <a:fillRect/>
          </a:stretch>
        </p:blipFill>
        <p:spPr>
          <a:xfrm>
            <a:off x="6766850" y="4506675"/>
            <a:ext cx="4586950" cy="776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695960" y="692785"/>
            <a:ext cx="10889615" cy="1202690"/>
          </a:xfrm>
          <a:prstGeom prst="rect">
            <a:avLst/>
          </a:prstGeom>
        </p:spPr>
      </p:pic>
      <p:pic>
        <p:nvPicPr>
          <p:cNvPr id="7" name="Picture 6"/>
          <p:cNvPicPr>
            <a:picLocks noChangeAspect="1"/>
          </p:cNvPicPr>
          <p:nvPr/>
        </p:nvPicPr>
        <p:blipFill>
          <a:blip r:embed="rId2"/>
          <a:stretch>
            <a:fillRect/>
          </a:stretch>
        </p:blipFill>
        <p:spPr>
          <a:xfrm>
            <a:off x="1631950" y="2060575"/>
            <a:ext cx="5838190" cy="46951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407670" y="476885"/>
            <a:ext cx="11529695" cy="1108075"/>
          </a:xfrm>
          <a:prstGeom prst="rect">
            <a:avLst/>
          </a:prstGeom>
        </p:spPr>
      </p:pic>
      <p:pic>
        <p:nvPicPr>
          <p:cNvPr id="7" name="Picture 6"/>
          <p:cNvPicPr>
            <a:picLocks noChangeAspect="1"/>
          </p:cNvPicPr>
          <p:nvPr/>
        </p:nvPicPr>
        <p:blipFill>
          <a:blip r:embed="rId2"/>
          <a:stretch>
            <a:fillRect/>
          </a:stretch>
        </p:blipFill>
        <p:spPr>
          <a:xfrm>
            <a:off x="1416050" y="1988820"/>
            <a:ext cx="5603240" cy="3606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09" name="Shape 209"/>
        <p:cNvGrpSpPr/>
        <p:nvPr/>
      </p:nvGrpSpPr>
      <p:grpSpPr>
        <a:xfrm>
          <a:off x="0" y="0"/>
          <a:ext cx="0" cy="0"/>
          <a:chOff x="0" y="0"/>
          <a:chExt cx="0" cy="0"/>
        </a:xfrm>
      </p:grpSpPr>
      <p:sp>
        <p:nvSpPr>
          <p:cNvPr id="210" name="Google Shape;210;p28"/>
          <p:cNvSpPr txBox="1"/>
          <p:nvPr>
            <p:ph type="title"/>
          </p:nvPr>
        </p:nvSpPr>
        <p:spPr>
          <a:xfrm>
            <a:off x="838200" y="365125"/>
            <a:ext cx="10515600" cy="4731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While Loop</a:t>
            </a:r>
            <a:endParaRPr lang="en-US"/>
          </a:p>
        </p:txBody>
      </p:sp>
      <p:sp>
        <p:nvSpPr>
          <p:cNvPr id="211" name="Google Shape;211;p28"/>
          <p:cNvSpPr txBox="1"/>
          <p:nvPr>
            <p:ph type="body" idx="1"/>
          </p:nvPr>
        </p:nvSpPr>
        <p:spPr>
          <a:xfrm>
            <a:off x="838200" y="2266975"/>
            <a:ext cx="10515600" cy="4590900"/>
          </a:xfrm>
          <a:prstGeom prst="rect">
            <a:avLst/>
          </a:prstGeom>
        </p:spPr>
        <p:txBody>
          <a:bodyPr spcFirstLastPara="1" wrap="square" lIns="91425" tIns="45700" rIns="91425" bIns="45700" anchor="t" anchorCtr="0">
            <a:normAutofit lnSpcReduction="20000"/>
          </a:bodyPr>
          <a:lstStyle/>
          <a:p>
            <a:pPr marL="457200" lvl="0" indent="-342900" algn="l" rtl="0">
              <a:lnSpc>
                <a:spcPct val="100000"/>
              </a:lnSpc>
              <a:spcBef>
                <a:spcPts val="1000"/>
              </a:spcBef>
              <a:spcAft>
                <a:spcPts val="0"/>
              </a:spcAft>
              <a:buSzPts val="1800"/>
              <a:buChar char="•"/>
            </a:pPr>
            <a:r>
              <a:rPr lang="en-US"/>
              <a:t>the while loop starts with a </a:t>
            </a:r>
            <a:r>
              <a:rPr lang="en-US" b="1" u="sng">
                <a:solidFill>
                  <a:srgbClr val="FF0000"/>
                </a:solidFill>
              </a:rPr>
              <a:t>condition</a:t>
            </a:r>
            <a:r>
              <a:rPr lang="en-US"/>
              <a:t>. First, the </a:t>
            </a:r>
            <a:r>
              <a:rPr lang="en-US" b="1" u="sng">
                <a:solidFill>
                  <a:srgbClr val="FF0000"/>
                </a:solidFill>
              </a:rPr>
              <a:t>condition </a:t>
            </a:r>
            <a:r>
              <a:rPr lang="en-US"/>
              <a:t>is evaluated, if it is true then the statements in the body of the while are executed.</a:t>
            </a:r>
            <a:br>
              <a:rPr lang="en-US"/>
            </a:br>
            <a:endParaRPr lang="en-US"/>
          </a:p>
          <a:p>
            <a:pPr marL="457200" lvl="0" indent="-342900" algn="l" rtl="0">
              <a:lnSpc>
                <a:spcPct val="100000"/>
              </a:lnSpc>
              <a:spcBef>
                <a:spcPts val="0"/>
              </a:spcBef>
              <a:spcAft>
                <a:spcPts val="0"/>
              </a:spcAft>
              <a:buSzPts val="1800"/>
              <a:buChar char="•"/>
            </a:pPr>
            <a:r>
              <a:rPr lang="en-US"/>
              <a:t>After executing the body of the while loop, the </a:t>
            </a:r>
            <a:r>
              <a:rPr lang="en-US" b="1" u="sng">
                <a:solidFill>
                  <a:srgbClr val="FF0000"/>
                </a:solidFill>
              </a:rPr>
              <a:t>condition </a:t>
            </a:r>
            <a:r>
              <a:rPr lang="en-US"/>
              <a:t>is checked again, if it is still true then once again statements in the body of the while are executed.</a:t>
            </a:r>
            <a:br>
              <a:rPr lang="en-US"/>
            </a:br>
            <a:endParaRPr lang="en-US"/>
          </a:p>
          <a:p>
            <a:pPr marL="457200" lvl="0" indent="-342900" algn="l" rtl="0">
              <a:lnSpc>
                <a:spcPct val="100000"/>
              </a:lnSpc>
              <a:spcBef>
                <a:spcPts val="0"/>
              </a:spcBef>
              <a:spcAft>
                <a:spcPts val="0"/>
              </a:spcAft>
              <a:buSzPts val="1800"/>
              <a:buChar char="•"/>
            </a:pPr>
            <a:r>
              <a:rPr lang="en-US"/>
              <a:t>This process keeps repeating until the </a:t>
            </a:r>
            <a:r>
              <a:rPr lang="en-US" b="1" u="sng">
                <a:solidFill>
                  <a:srgbClr val="FF0000"/>
                </a:solidFill>
              </a:rPr>
              <a:t>condition </a:t>
            </a:r>
            <a:r>
              <a:rPr lang="en-US"/>
              <a:t>becomes false. Therefore, you must always include a statement which alters the value of the </a:t>
            </a:r>
            <a:r>
              <a:rPr lang="en-US" b="1" u="sng">
                <a:solidFill>
                  <a:srgbClr val="FF0000"/>
                </a:solidFill>
              </a:rPr>
              <a:t>condition </a:t>
            </a:r>
            <a:r>
              <a:rPr lang="en-US"/>
              <a:t>so that it ultimately becomes false at some point. Each execution of the loop body is known as iteration.</a:t>
            </a:r>
            <a:endParaRPr lang="en-US"/>
          </a:p>
        </p:txBody>
      </p:sp>
      <p:pic>
        <p:nvPicPr>
          <p:cNvPr id="212" name="Google Shape;212;p28"/>
          <p:cNvPicPr preferRelativeResize="0"/>
          <p:nvPr/>
        </p:nvPicPr>
        <p:blipFill>
          <a:blip r:embed="rId1"/>
          <a:stretch>
            <a:fillRect/>
          </a:stretch>
        </p:blipFill>
        <p:spPr>
          <a:xfrm>
            <a:off x="900126" y="838225"/>
            <a:ext cx="10453675" cy="1428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17" name="Shape 217"/>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343660" y="2132965"/>
            <a:ext cx="5022850" cy="4013835"/>
          </a:xfrm>
          <a:prstGeom prst="rect">
            <a:avLst/>
          </a:prstGeom>
        </p:spPr>
      </p:pic>
      <p:sp>
        <p:nvSpPr>
          <p:cNvPr id="4" name="Title 3"/>
          <p:cNvSpPr/>
          <p:nvPr>
            <p:ph type="title"/>
          </p:nvPr>
        </p:nvSpPr>
        <p:spPr/>
        <p:txBody>
          <a:bodyPr/>
          <a:p>
            <a:r>
              <a:rPr lang="en-US"/>
              <a:t>while Loop example</a:t>
            </a:r>
            <a:endParaRPr lang="en-US"/>
          </a:p>
        </p:txBody>
      </p:sp>
      <p:sp>
        <p:nvSpPr>
          <p:cNvPr id="6" name="Text Box 5"/>
          <p:cNvSpPr txBox="1"/>
          <p:nvPr/>
        </p:nvSpPr>
        <p:spPr>
          <a:xfrm>
            <a:off x="8509000" y="2853055"/>
            <a:ext cx="2803525" cy="2676525"/>
          </a:xfrm>
          <a:prstGeom prst="rect">
            <a:avLst/>
          </a:prstGeom>
          <a:solidFill>
            <a:schemeClr val="accent2"/>
          </a:solidFill>
        </p:spPr>
        <p:txBody>
          <a:bodyPr wrap="square" rtlCol="0">
            <a:spAutoFit/>
          </a:bodyPr>
          <a:p>
            <a:pPr algn="ctr"/>
            <a:r>
              <a:rPr lang="en-US" sz="2800">
                <a:solidFill>
                  <a:schemeClr val="tx1"/>
                </a:solidFill>
              </a:rPr>
              <a:t>output:</a:t>
            </a:r>
            <a:endParaRPr lang="en-US" sz="2800">
              <a:solidFill>
                <a:schemeClr val="tx1"/>
              </a:solidFill>
            </a:endParaRPr>
          </a:p>
          <a:p>
            <a:pPr algn="ctr"/>
            <a:r>
              <a:rPr lang="en-US" sz="2800">
                <a:solidFill>
                  <a:schemeClr val="tx1"/>
                </a:solidFill>
              </a:rPr>
              <a:t>0</a:t>
            </a:r>
            <a:endParaRPr lang="en-US" sz="2800">
              <a:solidFill>
                <a:schemeClr val="tx1"/>
              </a:solidFill>
            </a:endParaRPr>
          </a:p>
          <a:p>
            <a:pPr algn="ctr"/>
            <a:r>
              <a:rPr lang="en-US" sz="2800">
                <a:solidFill>
                  <a:schemeClr val="tx1"/>
                </a:solidFill>
              </a:rPr>
              <a:t>1</a:t>
            </a:r>
            <a:endParaRPr lang="en-US" sz="2800">
              <a:solidFill>
                <a:schemeClr val="tx1"/>
              </a:solidFill>
            </a:endParaRPr>
          </a:p>
          <a:p>
            <a:pPr algn="ctr"/>
            <a:r>
              <a:rPr lang="en-US" sz="2800">
                <a:solidFill>
                  <a:schemeClr val="tx1"/>
                </a:solidFill>
              </a:rPr>
              <a:t>2</a:t>
            </a:r>
            <a:endParaRPr lang="en-US" sz="2800">
              <a:solidFill>
                <a:schemeClr val="tx1"/>
              </a:solidFill>
            </a:endParaRPr>
          </a:p>
          <a:p>
            <a:pPr algn="ctr"/>
            <a:r>
              <a:rPr lang="en-US" sz="2800">
                <a:solidFill>
                  <a:schemeClr val="tx1"/>
                </a:solidFill>
              </a:rPr>
              <a:t>3</a:t>
            </a:r>
            <a:endParaRPr lang="en-US" sz="2800">
              <a:solidFill>
                <a:schemeClr val="tx1"/>
              </a:solidFill>
            </a:endParaRPr>
          </a:p>
          <a:p>
            <a:pPr algn="ctr"/>
            <a:r>
              <a:rPr lang="en-US" sz="2800">
                <a:solidFill>
                  <a:schemeClr val="tx1"/>
                </a:solidFill>
              </a:rPr>
              <a:t>4</a:t>
            </a:r>
            <a:endParaRPr lang="en-US" sz="2800">
              <a:solidFill>
                <a:schemeClr val="tx1"/>
              </a:solidFill>
            </a:endParaRPr>
          </a:p>
        </p:txBody>
      </p:sp>
      <p:sp>
        <p:nvSpPr>
          <p:cNvPr id="5" name="Text Box 4"/>
          <p:cNvSpPr txBox="1"/>
          <p:nvPr/>
        </p:nvSpPr>
        <p:spPr>
          <a:xfrm>
            <a:off x="5232400" y="5013325"/>
            <a:ext cx="3132455" cy="737235"/>
          </a:xfrm>
          <a:prstGeom prst="rect">
            <a:avLst/>
          </a:prstGeom>
          <a:noFill/>
          <a:ln>
            <a:solidFill>
              <a:schemeClr val="tx1"/>
            </a:solidFill>
          </a:ln>
        </p:spPr>
        <p:txBody>
          <a:bodyPr wrap="square" rtlCol="0">
            <a:spAutoFit/>
          </a:bodyPr>
          <a:p>
            <a:r>
              <a:rPr lang="en-US">
                <a:solidFill>
                  <a:srgbClr val="FF0000"/>
                </a:solidFill>
              </a:rPr>
              <a:t>remeber:</a:t>
            </a:r>
            <a:endParaRPr lang="en-US">
              <a:solidFill>
                <a:srgbClr val="FF0000"/>
              </a:solidFill>
            </a:endParaRPr>
          </a:p>
          <a:p>
            <a:r>
              <a:rPr lang="en-US"/>
              <a:t>you must write a statement that terminate the while loop</a:t>
            </a:r>
            <a:endParaRPr lang="en-US"/>
          </a:p>
        </p:txBody>
      </p:sp>
      <p:cxnSp>
        <p:nvCxnSpPr>
          <p:cNvPr id="7" name="Curved Connector 6"/>
          <p:cNvCxnSpPr/>
          <p:nvPr/>
        </p:nvCxnSpPr>
        <p:spPr>
          <a:xfrm rot="10800000">
            <a:off x="4512310" y="4940300"/>
            <a:ext cx="720090" cy="588645"/>
          </a:xfrm>
          <a:prstGeom prst="curvedConnector3">
            <a:avLst>
              <a:gd name="adj1" fmla="val 49912"/>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5" grpId="0" animBg="1"/>
      <p:bldP spid="5"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Picture 9"/>
          <p:cNvPicPr>
            <a:picLocks noChangeAspect="1"/>
          </p:cNvPicPr>
          <p:nvPr/>
        </p:nvPicPr>
        <p:blipFill>
          <a:blip r:embed="rId1"/>
          <a:stretch>
            <a:fillRect/>
          </a:stretch>
        </p:blipFill>
        <p:spPr>
          <a:xfrm>
            <a:off x="695960" y="476885"/>
            <a:ext cx="10341610" cy="2932430"/>
          </a:xfrm>
          <a:prstGeom prst="rect">
            <a:avLst/>
          </a:prstGeom>
        </p:spPr>
      </p:pic>
      <p:pic>
        <p:nvPicPr>
          <p:cNvPr id="7" name="Picture 6"/>
          <p:cNvPicPr>
            <a:picLocks noChangeAspect="1"/>
          </p:cNvPicPr>
          <p:nvPr/>
        </p:nvPicPr>
        <p:blipFill>
          <a:blip r:embed="rId2"/>
          <a:stretch>
            <a:fillRect/>
          </a:stretch>
        </p:blipFill>
        <p:spPr>
          <a:xfrm>
            <a:off x="5304155" y="2924810"/>
            <a:ext cx="6188075" cy="3513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25" name="Shape 225"/>
        <p:cNvGrpSpPr/>
        <p:nvPr/>
      </p:nvGrpSpPr>
      <p:grpSpPr>
        <a:xfrm>
          <a:off x="0" y="0"/>
          <a:ext cx="0" cy="0"/>
          <a:chOff x="0" y="0"/>
          <a:chExt cx="0" cy="0"/>
        </a:xfrm>
      </p:grpSpPr>
      <p:sp>
        <p:nvSpPr>
          <p:cNvPr id="226" name="Google Shape;226;p30"/>
          <p:cNvSpPr txBox="1"/>
          <p:nvPr>
            <p:ph type="title"/>
          </p:nvPr>
        </p:nvSpPr>
        <p:spPr>
          <a:xfrm>
            <a:off x="838200" y="365125"/>
            <a:ext cx="10515600" cy="5820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a:t>do… while loop</a:t>
            </a:r>
            <a:endParaRPr lang="en-US"/>
          </a:p>
        </p:txBody>
      </p:sp>
      <p:sp>
        <p:nvSpPr>
          <p:cNvPr id="227" name="Google Shape;227;p30"/>
          <p:cNvSpPr txBox="1"/>
          <p:nvPr>
            <p:ph type="body" idx="1"/>
          </p:nvPr>
        </p:nvSpPr>
        <p:spPr>
          <a:xfrm>
            <a:off x="838200" y="2290150"/>
            <a:ext cx="10515600" cy="3886800"/>
          </a:xfrm>
          <a:prstGeom prst="rect">
            <a:avLst/>
          </a:prstGeom>
        </p:spPr>
        <p:txBody>
          <a:bodyPr spcFirstLastPara="1" wrap="square" lIns="91425" tIns="45700" rIns="91425" bIns="45700" anchor="t" anchorCtr="0">
            <a:normAutofit lnSpcReduction="20000"/>
          </a:bodyPr>
          <a:lstStyle/>
          <a:p>
            <a:pPr marL="457200" lvl="0" indent="-342900" algn="l" rtl="0">
              <a:spcBef>
                <a:spcPts val="1000"/>
              </a:spcBef>
              <a:spcAft>
                <a:spcPts val="0"/>
              </a:spcAft>
              <a:buSzPts val="1800"/>
              <a:buChar char="•"/>
            </a:pPr>
            <a:r>
              <a:rPr lang="en-US"/>
              <a:t>In do while loop first the statements in the body are executed then the condition is checked.</a:t>
            </a:r>
            <a:endParaRPr lang="en-US"/>
          </a:p>
          <a:p>
            <a:pPr marL="0" lvl="0" indent="0" algn="l" rtl="0">
              <a:spcBef>
                <a:spcPts val="1000"/>
              </a:spcBef>
              <a:spcAft>
                <a:spcPts val="0"/>
              </a:spcAft>
              <a:buClr>
                <a:schemeClr val="dk1"/>
              </a:buClr>
              <a:buSzPts val="1100"/>
              <a:buFont typeface="Arial" panose="020B0604020202020204"/>
              <a:buNone/>
            </a:pPr>
          </a:p>
          <a:p>
            <a:pPr marL="457200" lvl="0" indent="-342900" algn="l" rtl="0">
              <a:spcBef>
                <a:spcPts val="1000"/>
              </a:spcBef>
              <a:spcAft>
                <a:spcPts val="0"/>
              </a:spcAft>
              <a:buSzPts val="1800"/>
              <a:buChar char="•"/>
            </a:pPr>
            <a:r>
              <a:rPr lang="en-US"/>
              <a:t>This process keeps repeating until the condition becomes false.</a:t>
            </a:r>
            <a:endParaRPr lang="en-US"/>
          </a:p>
          <a:p>
            <a:pPr marL="0" lvl="0" indent="0" algn="l" rtl="0">
              <a:spcBef>
                <a:spcPts val="1000"/>
              </a:spcBef>
              <a:spcAft>
                <a:spcPts val="0"/>
              </a:spcAft>
              <a:buClr>
                <a:schemeClr val="dk1"/>
              </a:buClr>
              <a:buSzPts val="1100"/>
              <a:buFont typeface="Arial" panose="020B0604020202020204"/>
              <a:buNone/>
            </a:pPr>
          </a:p>
          <a:p>
            <a:pPr marL="457200" lvl="0" indent="-342900" algn="l" rtl="0">
              <a:spcBef>
                <a:spcPts val="1000"/>
              </a:spcBef>
              <a:spcAft>
                <a:spcPts val="0"/>
              </a:spcAft>
              <a:buSzPts val="1800"/>
              <a:buChar char="•"/>
            </a:pPr>
            <a:r>
              <a:rPr lang="en-US"/>
              <a:t>The do while loop differs significantly from the while loop because in do while loop statements in the body are executed at least once even if the condition is false. In the case of while loop the condition is checked first and if it true only then the statements in the body of the loop are executed.</a:t>
            </a:r>
            <a:endParaRPr lang="en-US"/>
          </a:p>
        </p:txBody>
      </p:sp>
      <p:pic>
        <p:nvPicPr>
          <p:cNvPr id="228" name="Google Shape;228;p30"/>
          <p:cNvPicPr preferRelativeResize="0"/>
          <p:nvPr/>
        </p:nvPicPr>
        <p:blipFill>
          <a:blip r:embed="rId1"/>
          <a:stretch>
            <a:fillRect/>
          </a:stretch>
        </p:blipFill>
        <p:spPr>
          <a:xfrm>
            <a:off x="838200" y="947125"/>
            <a:ext cx="10515600" cy="1343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33" name="Shape 233"/>
        <p:cNvGrpSpPr/>
        <p:nvPr/>
      </p:nvGrpSpPr>
      <p:grpSpPr>
        <a:xfrm>
          <a:off x="0" y="0"/>
          <a:ext cx="0" cy="0"/>
          <a:chOff x="0" y="0"/>
          <a:chExt cx="0" cy="0"/>
        </a:xfrm>
      </p:grpSpPr>
      <p:sp>
        <p:nvSpPr>
          <p:cNvPr id="234" name="Google Shape;234;p31"/>
          <p:cNvSpPr txBox="1"/>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p>
        </p:txBody>
      </p:sp>
      <p:pic>
        <p:nvPicPr>
          <p:cNvPr id="235" name="Google Shape;235;p31"/>
          <p:cNvPicPr preferRelativeResize="0"/>
          <p:nvPr/>
        </p:nvPicPr>
        <p:blipFill>
          <a:blip r:embed="rId1"/>
          <a:stretch>
            <a:fillRect/>
          </a:stretch>
        </p:blipFill>
        <p:spPr>
          <a:xfrm>
            <a:off x="838200" y="365125"/>
            <a:ext cx="5546275" cy="3152775"/>
          </a:xfrm>
          <a:prstGeom prst="rect">
            <a:avLst/>
          </a:prstGeom>
          <a:noFill/>
          <a:ln w="114300" cap="flat" cmpd="sng">
            <a:solidFill>
              <a:schemeClr val="dk2"/>
            </a:solidFill>
            <a:prstDash val="solid"/>
            <a:round/>
            <a:headEnd type="none" w="sm" len="sm"/>
            <a:tailEnd type="none" w="sm" len="sm"/>
          </a:ln>
        </p:spPr>
      </p:pic>
      <p:pic>
        <p:nvPicPr>
          <p:cNvPr id="236" name="Google Shape;236;p31"/>
          <p:cNvPicPr preferRelativeResize="0"/>
          <p:nvPr/>
        </p:nvPicPr>
        <p:blipFill>
          <a:blip r:embed="rId2"/>
          <a:stretch>
            <a:fillRect/>
          </a:stretch>
        </p:blipFill>
        <p:spPr>
          <a:xfrm>
            <a:off x="6657950" y="1273275"/>
            <a:ext cx="4695850" cy="762000"/>
          </a:xfrm>
          <a:prstGeom prst="rect">
            <a:avLst/>
          </a:prstGeom>
          <a:noFill/>
          <a:ln>
            <a:noFill/>
          </a:ln>
        </p:spPr>
      </p:pic>
      <p:pic>
        <p:nvPicPr>
          <p:cNvPr id="237" name="Google Shape;237;p31"/>
          <p:cNvPicPr preferRelativeResize="0"/>
          <p:nvPr/>
        </p:nvPicPr>
        <p:blipFill>
          <a:blip r:embed="rId3"/>
          <a:stretch>
            <a:fillRect/>
          </a:stretch>
        </p:blipFill>
        <p:spPr>
          <a:xfrm>
            <a:off x="6657950" y="365125"/>
            <a:ext cx="4586950" cy="776775"/>
          </a:xfrm>
          <a:prstGeom prst="rect">
            <a:avLst/>
          </a:prstGeom>
          <a:noFill/>
          <a:ln>
            <a:noFill/>
          </a:ln>
        </p:spPr>
      </p:pic>
      <p:pic>
        <p:nvPicPr>
          <p:cNvPr id="238" name="Google Shape;238;p31"/>
          <p:cNvPicPr preferRelativeResize="0"/>
          <p:nvPr/>
        </p:nvPicPr>
        <p:blipFill>
          <a:blip r:embed="rId4"/>
          <a:stretch>
            <a:fillRect/>
          </a:stretch>
        </p:blipFill>
        <p:spPr>
          <a:xfrm>
            <a:off x="751811" y="3743325"/>
            <a:ext cx="5632675" cy="3114675"/>
          </a:xfrm>
          <a:prstGeom prst="rect">
            <a:avLst/>
          </a:prstGeom>
          <a:noFill/>
          <a:ln w="114300" cap="flat" cmpd="sng">
            <a:solidFill>
              <a:schemeClr val="dk2"/>
            </a:solidFill>
            <a:prstDash val="solid"/>
            <a:round/>
            <a:headEnd type="none" w="sm" len="sm"/>
            <a:tailEnd type="none" w="sm" len="sm"/>
          </a:ln>
        </p:spPr>
      </p:pic>
      <p:pic>
        <p:nvPicPr>
          <p:cNvPr id="239" name="Google Shape;239;p31"/>
          <p:cNvPicPr preferRelativeResize="0"/>
          <p:nvPr/>
        </p:nvPicPr>
        <p:blipFill>
          <a:blip r:embed="rId3"/>
          <a:stretch>
            <a:fillRect/>
          </a:stretch>
        </p:blipFill>
        <p:spPr>
          <a:xfrm>
            <a:off x="6657950" y="3674375"/>
            <a:ext cx="4586950" cy="776775"/>
          </a:xfrm>
          <a:prstGeom prst="rect">
            <a:avLst/>
          </a:prstGeom>
          <a:noFill/>
          <a:ln>
            <a:noFill/>
          </a:ln>
        </p:spPr>
      </p:pic>
      <p:pic>
        <p:nvPicPr>
          <p:cNvPr id="240" name="Google Shape;240;p31"/>
          <p:cNvPicPr preferRelativeResize="0"/>
          <p:nvPr/>
        </p:nvPicPr>
        <p:blipFill>
          <a:blip r:embed="rId5"/>
          <a:stretch>
            <a:fillRect/>
          </a:stretch>
        </p:blipFill>
        <p:spPr>
          <a:xfrm>
            <a:off x="6657938" y="4533888"/>
            <a:ext cx="3914775" cy="15335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fade">
                                      <p:cBhvr>
                                        <p:cTn id="7" dur="1000"/>
                                        <p:tgtEl>
                                          <p:spTgt spid="2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7"/>
                                        </p:tgtEl>
                                        <p:attrNameLst>
                                          <p:attrName>style.visibility</p:attrName>
                                        </p:attrNameLst>
                                      </p:cBhvr>
                                      <p:to>
                                        <p:strVal val="visible"/>
                                      </p:to>
                                    </p:set>
                                    <p:animEffect transition="in" filter="fade">
                                      <p:cBhvr>
                                        <p:cTn id="12" dur="1000"/>
                                        <p:tgtEl>
                                          <p:spTgt spid="2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6"/>
                                        </p:tgtEl>
                                        <p:attrNameLst>
                                          <p:attrName>style.visibility</p:attrName>
                                        </p:attrNameLst>
                                      </p:cBhvr>
                                      <p:to>
                                        <p:strVal val="visible"/>
                                      </p:to>
                                    </p:set>
                                    <p:animEffect transition="in" filter="fade">
                                      <p:cBhvr>
                                        <p:cTn id="17" dur="1000"/>
                                        <p:tgtEl>
                                          <p:spTgt spid="2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8"/>
                                        </p:tgtEl>
                                        <p:attrNameLst>
                                          <p:attrName>style.visibility</p:attrName>
                                        </p:attrNameLst>
                                      </p:cBhvr>
                                      <p:to>
                                        <p:strVal val="visible"/>
                                      </p:to>
                                    </p:set>
                                    <p:animEffect transition="in" filter="fade">
                                      <p:cBhvr>
                                        <p:cTn id="22" dur="1000"/>
                                        <p:tgtEl>
                                          <p:spTgt spid="23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9"/>
                                        </p:tgtEl>
                                        <p:attrNameLst>
                                          <p:attrName>style.visibility</p:attrName>
                                        </p:attrNameLst>
                                      </p:cBhvr>
                                      <p:to>
                                        <p:strVal val="visible"/>
                                      </p:to>
                                    </p:set>
                                    <p:animEffect transition="in" filter="fade">
                                      <p:cBhvr>
                                        <p:cTn id="27" dur="1000"/>
                                        <p:tgtEl>
                                          <p:spTgt spid="23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0"/>
                                        </p:tgtEl>
                                        <p:attrNameLst>
                                          <p:attrName>style.visibility</p:attrName>
                                        </p:attrNameLst>
                                      </p:cBhvr>
                                      <p:to>
                                        <p:strVal val="visible"/>
                                      </p:to>
                                    </p:set>
                                    <p:animEffect transition="in" filter="fade">
                                      <p:cBhvr>
                                        <p:cTn id="32"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96520" y="332740"/>
            <a:ext cx="11666220" cy="5232400"/>
          </a:xfrm>
          <a:prstGeom prst="rect">
            <a:avLst/>
          </a:prstGeom>
        </p:spPr>
      </p:pic>
      <p:sp>
        <p:nvSpPr>
          <p:cNvPr id="7" name="Text Box 6"/>
          <p:cNvSpPr txBox="1"/>
          <p:nvPr/>
        </p:nvSpPr>
        <p:spPr>
          <a:xfrm>
            <a:off x="8509000" y="2853055"/>
            <a:ext cx="2803525" cy="2245360"/>
          </a:xfrm>
          <a:prstGeom prst="rect">
            <a:avLst/>
          </a:prstGeom>
          <a:solidFill>
            <a:schemeClr val="accent2"/>
          </a:solidFill>
        </p:spPr>
        <p:txBody>
          <a:bodyPr wrap="square" rtlCol="0">
            <a:spAutoFit/>
          </a:bodyPr>
          <a:p>
            <a:pPr algn="ctr"/>
            <a:r>
              <a:rPr lang="en-US" sz="2800">
                <a:solidFill>
                  <a:schemeClr val="tx1"/>
                </a:solidFill>
              </a:rPr>
              <a:t>output:</a:t>
            </a:r>
            <a:endParaRPr lang="en-US" sz="2800">
              <a:solidFill>
                <a:schemeClr val="tx1"/>
              </a:solidFill>
            </a:endParaRPr>
          </a:p>
          <a:p>
            <a:pPr algn="ctr"/>
            <a:r>
              <a:rPr lang="en-US" sz="2800">
                <a:solidFill>
                  <a:schemeClr val="tx1"/>
                </a:solidFill>
              </a:rPr>
              <a:t>3</a:t>
            </a:r>
            <a:endParaRPr lang="en-US" sz="2800">
              <a:solidFill>
                <a:schemeClr val="tx1"/>
              </a:solidFill>
            </a:endParaRPr>
          </a:p>
          <a:p>
            <a:pPr algn="ctr"/>
            <a:r>
              <a:rPr lang="en-US" sz="2800">
                <a:solidFill>
                  <a:schemeClr val="tx1"/>
                </a:solidFill>
              </a:rPr>
              <a:t>4</a:t>
            </a:r>
            <a:endParaRPr lang="en-US" sz="2800">
              <a:solidFill>
                <a:schemeClr val="tx1"/>
              </a:solidFill>
            </a:endParaRPr>
          </a:p>
          <a:p>
            <a:pPr algn="ctr"/>
            <a:r>
              <a:rPr lang="en-US" sz="2800">
                <a:solidFill>
                  <a:schemeClr val="tx1"/>
                </a:solidFill>
              </a:rPr>
              <a:t>5</a:t>
            </a:r>
            <a:endParaRPr lang="en-US" sz="2800">
              <a:solidFill>
                <a:schemeClr val="tx1"/>
              </a:solidFill>
            </a:endParaRPr>
          </a:p>
          <a:p>
            <a:pPr algn="ctr"/>
            <a:r>
              <a:rPr lang="en-US" sz="2800">
                <a:solidFill>
                  <a:schemeClr val="tx1"/>
                </a:solidFill>
              </a:rPr>
              <a:t>6</a:t>
            </a:r>
            <a:endParaRPr lang="en-US" sz="28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2279650" y="1917065"/>
            <a:ext cx="7332345" cy="3916045"/>
          </a:xfrm>
          <a:prstGeom prst="rect">
            <a:avLst/>
          </a:prstGeom>
        </p:spPr>
      </p:pic>
      <p:sp>
        <p:nvSpPr>
          <p:cNvPr id="2" name="Title 1"/>
          <p:cNvSpPr/>
          <p:nvPr>
            <p:ph type="title"/>
          </p:nvPr>
        </p:nvSpPr>
        <p:spPr/>
        <p:txBody>
          <a:bodyPr/>
          <a:p>
            <a:r>
              <a:rPr lang="en-US"/>
              <a:t>Difference between </a:t>
            </a:r>
            <a:r>
              <a:rPr lang="en-US">
                <a:solidFill>
                  <a:srgbClr val="FF0000"/>
                </a:solidFill>
              </a:rPr>
              <a:t>while</a:t>
            </a:r>
            <a:r>
              <a:rPr lang="en-US"/>
              <a:t> and </a:t>
            </a:r>
            <a:r>
              <a:rPr lang="en-US">
                <a:solidFill>
                  <a:srgbClr val="FF0000"/>
                </a:solidFill>
              </a:rPr>
              <a:t>do while</a:t>
            </a:r>
            <a:endParaRPr lang="en-US">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US"/>
              <a:t>write a program to draw this Shape</a:t>
            </a:r>
            <a:endParaRPr lang="en-US"/>
          </a:p>
        </p:txBody>
      </p:sp>
      <p:sp>
        <p:nvSpPr>
          <p:cNvPr id="3" name="Text Placeholder 2"/>
          <p:cNvSpPr/>
          <p:nvPr>
            <p:ph type="body" idx="1"/>
          </p:nvPr>
        </p:nvSpPr>
        <p:spPr/>
        <p:txBody>
          <a:bodyPr>
            <a:noAutofit/>
          </a:bodyPr>
          <a:p>
            <a:pPr marL="114300" indent="0">
              <a:buNone/>
            </a:pPr>
            <a:r>
              <a:rPr lang="en-US" sz="3600"/>
              <a:t>*******</a:t>
            </a:r>
            <a:endParaRPr lang="en-US" sz="3600"/>
          </a:p>
          <a:p>
            <a:pPr marL="114300" indent="0">
              <a:buNone/>
            </a:pPr>
            <a:r>
              <a:rPr lang="en-US" sz="3600">
                <a:sym typeface="+mn-ea"/>
              </a:rPr>
              <a:t>*******</a:t>
            </a:r>
            <a:endParaRPr lang="en-US" sz="3600"/>
          </a:p>
          <a:p>
            <a:pPr marL="114300" indent="0">
              <a:buNone/>
            </a:pPr>
            <a:r>
              <a:rPr lang="en-US" sz="3600">
                <a:sym typeface="+mn-ea"/>
              </a:rPr>
              <a:t>*******</a:t>
            </a:r>
            <a:endParaRPr lang="en-US" sz="3600"/>
          </a:p>
          <a:p>
            <a:pPr marL="114300" indent="0">
              <a:buNone/>
            </a:pPr>
            <a:r>
              <a:rPr lang="en-US" sz="3600">
                <a:sym typeface="+mn-ea"/>
              </a:rPr>
              <a:t>*******</a:t>
            </a:r>
            <a:endParaRPr lang="en-US" sz="3600"/>
          </a:p>
          <a:p>
            <a:pPr marL="114300" indent="0">
              <a:buNone/>
            </a:pPr>
            <a:r>
              <a:rPr lang="en-US" sz="3600">
                <a:sym typeface="+mn-ea"/>
              </a:rPr>
              <a:t>*******</a:t>
            </a:r>
            <a:endParaRPr lang="en-US" sz="3600"/>
          </a:p>
          <a:p>
            <a:pPr marL="114300" indent="0">
              <a:buNone/>
            </a:pPr>
            <a:r>
              <a:rPr lang="en-US" sz="3600">
                <a:sym typeface="+mn-ea"/>
              </a:rPr>
              <a:t>*******</a:t>
            </a:r>
            <a:endParaRPr lang="en-US" sz="3600"/>
          </a:p>
          <a:p>
            <a:pPr marL="114300" indent="0">
              <a:buNone/>
            </a:pPr>
            <a:r>
              <a:rPr lang="en-US" sz="3600">
                <a:sym typeface="+mn-ea"/>
              </a:rPr>
              <a:t>*******</a:t>
            </a:r>
            <a:endParaRPr lang="en-US" sz="3600"/>
          </a:p>
          <a:p>
            <a:pPr marL="114300" indent="0">
              <a:buNone/>
            </a:pPr>
            <a:endParaRPr lang="en-US" sz="3600"/>
          </a:p>
        </p:txBody>
      </p:sp>
      <p:pic>
        <p:nvPicPr>
          <p:cNvPr id="7" name="Picture 6"/>
          <p:cNvPicPr>
            <a:picLocks noChangeAspect="1"/>
          </p:cNvPicPr>
          <p:nvPr/>
        </p:nvPicPr>
        <p:blipFill>
          <a:blip r:embed="rId1"/>
          <a:stretch>
            <a:fillRect/>
          </a:stretch>
        </p:blipFill>
        <p:spPr>
          <a:xfrm>
            <a:off x="4368165" y="2282190"/>
            <a:ext cx="7025640" cy="34385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35" name="Shape 335"/>
        <p:cNvGrpSpPr/>
        <p:nvPr/>
      </p:nvGrpSpPr>
      <p:grpSpPr>
        <a:xfrm>
          <a:off x="0" y="0"/>
          <a:ext cx="0" cy="0"/>
          <a:chOff x="0" y="0"/>
          <a:chExt cx="0" cy="0"/>
        </a:xfrm>
      </p:grpSpPr>
      <p:pic>
        <p:nvPicPr>
          <p:cNvPr id="336" name="Google Shape;336;p47"/>
          <p:cNvPicPr preferRelativeResize="0"/>
          <p:nvPr/>
        </p:nvPicPr>
        <p:blipFill>
          <a:blip r:embed="rId1"/>
          <a:stretch>
            <a:fillRect/>
          </a:stretch>
        </p:blipFill>
        <p:spPr>
          <a:xfrm>
            <a:off x="1076850" y="1732425"/>
            <a:ext cx="3411100" cy="3222725"/>
          </a:xfrm>
          <a:prstGeom prst="rect">
            <a:avLst/>
          </a:prstGeom>
          <a:noFill/>
          <a:ln>
            <a:noFill/>
          </a:ln>
        </p:spPr>
      </p:pic>
      <p:sp>
        <p:nvSpPr>
          <p:cNvPr id="337" name="Google Shape;337;p47"/>
          <p:cNvSpPr txBox="1"/>
          <p:nvPr/>
        </p:nvSpPr>
        <p:spPr>
          <a:xfrm>
            <a:off x="689175" y="689175"/>
            <a:ext cx="9681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latin typeface="Calibri" panose="020F0502020204030204"/>
                <a:ea typeface="Calibri" panose="020F0502020204030204"/>
                <a:cs typeface="Calibri" panose="020F0502020204030204"/>
                <a:sym typeface="Calibri" panose="020F0502020204030204"/>
              </a:rPr>
              <a:t>Try to think how to make this shape </a:t>
            </a:r>
            <a:endParaRPr sz="2800">
              <a:latin typeface="Calibri" panose="020F0502020204030204"/>
              <a:ea typeface="Calibri" panose="020F0502020204030204"/>
              <a:cs typeface="Calibri" panose="020F0502020204030204"/>
              <a:sym typeface="Calibri" panose="020F0502020204030204"/>
            </a:endParaRPr>
          </a:p>
        </p:txBody>
      </p:sp>
      <p:pic>
        <p:nvPicPr>
          <p:cNvPr id="338" name="Google Shape;338;p47"/>
          <p:cNvPicPr preferRelativeResize="0"/>
          <p:nvPr/>
        </p:nvPicPr>
        <p:blipFill>
          <a:blip r:embed="rId2"/>
          <a:stretch>
            <a:fillRect/>
          </a:stretch>
        </p:blipFill>
        <p:spPr>
          <a:xfrm>
            <a:off x="6213425" y="1424500"/>
            <a:ext cx="5353050" cy="3838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38200" y="365125"/>
            <a:ext cx="10840085" cy="1325880"/>
          </a:xfrm>
        </p:spPr>
        <p:txBody>
          <a:bodyPr>
            <a:normAutofit fontScale="90000"/>
          </a:bodyPr>
          <a:p>
            <a:r>
              <a:rPr lang="en-US"/>
              <a:t>answer1 :                            answer 2: </a:t>
            </a:r>
            <a:br>
              <a:rPr lang="en-US"/>
            </a:br>
            <a:r>
              <a:rPr lang="en-US"/>
              <a:t>						</a:t>
            </a:r>
            <a:r>
              <a:rPr lang="en-US" sz="2000">
                <a:solidFill>
                  <a:srgbClr val="FF0000"/>
                </a:solidFill>
              </a:rPr>
              <a:t>remeber we changed the condition inside 2nd for loop</a:t>
            </a:r>
            <a:endParaRPr lang="en-US" sz="2000">
              <a:solidFill>
                <a:srgbClr val="FF0000"/>
              </a:solidFill>
            </a:endParaRPr>
          </a:p>
        </p:txBody>
      </p:sp>
      <p:pic>
        <p:nvPicPr>
          <p:cNvPr id="4" name="Picture 3"/>
          <p:cNvPicPr>
            <a:picLocks noChangeAspect="1"/>
          </p:cNvPicPr>
          <p:nvPr/>
        </p:nvPicPr>
        <p:blipFill>
          <a:blip r:embed="rId1"/>
          <a:stretch>
            <a:fillRect/>
          </a:stretch>
        </p:blipFill>
        <p:spPr>
          <a:xfrm>
            <a:off x="6240145" y="1772920"/>
            <a:ext cx="4726940" cy="4431665"/>
          </a:xfrm>
          <a:prstGeom prst="rect">
            <a:avLst/>
          </a:prstGeom>
        </p:spPr>
      </p:pic>
      <p:pic>
        <p:nvPicPr>
          <p:cNvPr id="9" name="Picture 8"/>
          <p:cNvPicPr>
            <a:picLocks noChangeAspect="1"/>
          </p:cNvPicPr>
          <p:nvPr/>
        </p:nvPicPr>
        <p:blipFill>
          <a:blip r:embed="rId2"/>
          <a:stretch>
            <a:fillRect/>
          </a:stretch>
        </p:blipFill>
        <p:spPr>
          <a:xfrm>
            <a:off x="263525" y="1700530"/>
            <a:ext cx="4924425" cy="385953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stretch>
            <a:fillRect/>
          </a:stretch>
        </p:blipFill>
        <p:spPr>
          <a:xfrm>
            <a:off x="1056005" y="548640"/>
            <a:ext cx="8209280" cy="5833110"/>
          </a:xfrm>
          <a:prstGeom prst="rect">
            <a:avLst/>
          </a:prstGeom>
        </p:spPr>
      </p:pic>
      <p:pic>
        <p:nvPicPr>
          <p:cNvPr id="3" name="Picture 2"/>
          <p:cNvPicPr>
            <a:picLocks noChangeAspect="1"/>
          </p:cNvPicPr>
          <p:nvPr/>
        </p:nvPicPr>
        <p:blipFill>
          <a:blip r:embed="rId2"/>
          <a:stretch>
            <a:fillRect/>
          </a:stretch>
        </p:blipFill>
        <p:spPr>
          <a:xfrm>
            <a:off x="6235065" y="1844675"/>
            <a:ext cx="5575300" cy="47301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68" name="Shape 368"/>
        <p:cNvGrpSpPr/>
        <p:nvPr/>
      </p:nvGrpSpPr>
      <p:grpSpPr>
        <a:xfrm>
          <a:off x="0" y="0"/>
          <a:ext cx="0" cy="0"/>
          <a:chOff x="0" y="0"/>
          <a:chExt cx="0" cy="0"/>
        </a:xfrm>
      </p:grpSpPr>
      <p:sp>
        <p:nvSpPr>
          <p:cNvPr id="369" name="Google Shape;369;p48"/>
          <p:cNvSpPr txBox="1"/>
          <p:nvPr>
            <p:ph type="title"/>
          </p:nvPr>
        </p:nvSpPr>
        <p:spPr>
          <a:xfrm>
            <a:off x="838200" y="276606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panose="020F0502020204030204"/>
              <a:buNone/>
            </a:pPr>
            <a:r>
              <a:rPr lang="en-US"/>
              <a:t>Thank you 😊😊😊</a:t>
            </a:r>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2652</Words>
  <Application>WPS Presentation</Application>
  <PresentationFormat/>
  <Paragraphs>120</Paragraphs>
  <Slides>24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Arial</vt:lpstr>
      <vt:lpstr>SimSun</vt:lpstr>
      <vt:lpstr>Wingdings</vt:lpstr>
      <vt:lpstr>Arial</vt:lpstr>
      <vt:lpstr>Calibri</vt:lpstr>
      <vt:lpstr>Microsoft YaHei</vt:lpstr>
      <vt:lpstr>Arial Unicode MS</vt:lpstr>
      <vt:lpstr>Office Theme</vt:lpstr>
      <vt:lpstr>CSE 141: Computer Programming</vt:lpstr>
      <vt:lpstr>Recap</vt:lpstr>
      <vt:lpstr>Condtions </vt:lpstr>
      <vt:lpstr>Content</vt:lpstr>
      <vt:lpstr>for Loop syntax</vt:lpstr>
      <vt:lpstr>For Loop</vt:lpstr>
      <vt:lpstr>for loop example</vt:lpstr>
      <vt:lpstr>for loop example</vt:lpstr>
      <vt:lpstr>Important note:</vt:lpstr>
      <vt:lpstr>Write a program that computes and prints the sum of all integers from 0 to 9</vt:lpstr>
      <vt:lpstr>PowerPoint 演示文稿</vt:lpstr>
      <vt:lpstr>PowerPoint 演示文稿</vt:lpstr>
      <vt:lpstr>While Loop</vt:lpstr>
      <vt:lpstr>while Loop example</vt:lpstr>
      <vt:lpstr>PowerPoint 演示文稿</vt:lpstr>
      <vt:lpstr>do… while loop</vt:lpstr>
      <vt:lpstr>PowerPoint 演示文稿</vt:lpstr>
      <vt:lpstr>PowerPoint 演示文稿</vt:lpstr>
      <vt:lpstr>Difference between while and do while</vt:lpstr>
      <vt:lpstr>write a program to draw this Shape</vt:lpstr>
      <vt:lpstr>PowerPoint 演示文稿</vt:lpstr>
      <vt:lpstr>answer1 :                            answer 2:  						remeber we changed the condition inside 2nd for loop</vt:lpstr>
      <vt:lpstr>PowerPoint 演示文稿</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Recap</dc:title>
  <dc:creator/>
  <cp:lastModifiedBy>Ahmed hossam</cp:lastModifiedBy>
  <cp:revision>13</cp:revision>
  <dcterms:created xsi:type="dcterms:W3CDTF">2023-03-11T21:06:00Z</dcterms:created>
  <dcterms:modified xsi:type="dcterms:W3CDTF">2025-12-27T00:00:47Z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1CF2A0B9B97549FAA5F53FC1C5C95BD6_13</vt:lpwstr>
  </property>
  <property fmtid="{D5CDD505-2E9C-101B-9397-08002B2CF9AE}" pid="3" name="KSOProductBuildVer">
    <vt:lpwstr>1033-12.2.0.23155</vt:lpwstr>
  </property>
</Properties>
</file>