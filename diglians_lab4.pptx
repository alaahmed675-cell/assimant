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rels" ContentType="application/vnd.openxmlformats-package.relationships+xml"/>
  <Override PartName="/customXml/itemProps1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375" r:id="rId5"/>
    <p:sldId id="376" r:id="rId6"/>
    <p:sldId id="377" r:id="rId7"/>
    <p:sldId id="378" r:id="rId8"/>
    <p:sldId id="418" r:id="rId9"/>
    <p:sldId id="257" r:id="rId10"/>
    <p:sldId id="289" r:id="rId11"/>
    <p:sldId id="260" r:id="rId12"/>
    <p:sldId id="290" r:id="rId13"/>
    <p:sldId id="261" r:id="rId14"/>
    <p:sldId id="263" r:id="rId15"/>
    <p:sldId id="419" r:id="rId16"/>
    <p:sldId id="258" r:id="rId17"/>
    <p:sldId id="264" r:id="rId18"/>
    <p:sldId id="265" r:id="rId19"/>
    <p:sldId id="421" r:id="rId20"/>
    <p:sldId id="420" r:id="rId21"/>
    <p:sldId id="292" r:id="rId22"/>
    <p:sldId id="333" r:id="rId23"/>
    <p:sldId id="422" r:id="rId24"/>
    <p:sldId id="423" r:id="rId25"/>
    <p:sldId id="424" r:id="rId26"/>
    <p:sldId id="288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2" Type="http://schemas.openxmlformats.org/officeDocument/2006/relationships/customXml" Target="../customXml/item1.xml"/><Relationship Id="rId31" Type="http://schemas.openxmlformats.org/officeDocument/2006/relationships/customXmlProps" Target="../customXml/itemProps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dd9c56de53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0" name="Google Shape;90;g1dd9c56de53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1fa6cd92dd_0_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2" name="Google Shape;202;g21fa6cd92dd_0_82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1fa6cd92dd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g21fa6cd92dd_0_56:notes"/>
          <p:cNvSpPr/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dd9c56de53_0_6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g1dd9c56de53_0_6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2de1027c2a_0_1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2de1027c2a_0_11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1" name="Google Shape;121;g22de1027c2a_0_11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2de1027c2a_0_108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2de1027c2a_0_108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1" name="Google Shape;131;g22de1027c2a_0_108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2de1027c2a_0_79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2de1027c2a_0_79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7" name="Google Shape;147;g22de1027c2a_0_79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7c5a14def_0_0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7c5a14def_0_0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g217c5a14def_0_0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2de1027c2a_0_87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2de1027c2a_0_87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4" name="Google Shape;154;g22de1027c2a_0_87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2de1027c2a_0_9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2de1027c2a_0_95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3" name="Google Shape;163;g22de1027c2a_0_95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2de1027c2a_0_23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22de1027c2a_0_233:notes"/>
          <p:cNvSpPr txBox="1"/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49" name="Google Shape;349;g22de1027c2a_0_233:notes"/>
          <p:cNvSpPr txBox="1"/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 panose="020F0502020204030204"/>
              <a:buNone/>
              <a:defRPr sz="3465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5"/>
            </a:lvl9pPr>
          </a:lstStyle>
          <a:p/>
        </p:txBody>
      </p:sp>
      <p:sp>
        <p:nvSpPr>
          <p:cNvPr id="29" name="Google Shape;29;p4"/>
          <p:cNvSpPr txBox="1"/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914400" lvl="1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371600" lvl="2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1828800" lvl="3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2286000" lvl="4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2743200" lvl="5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3200400" lvl="6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3657600" lvl="7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4114800" lvl="8" indent="-29845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  <a:defRPr sz="1200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2" name="Google Shape;52;p8"/>
          <p:cNvSpPr txBox="1"/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4" name="Google Shape;54;p8"/>
          <p:cNvSpPr txBox="1"/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0"/>
          <p:cNvSpPr txBox="1"/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/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11"/>
          <p:cNvSpPr txBox="1"/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0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ctrTitle"/>
          </p:nvPr>
        </p:nvSpPr>
        <p:spPr>
          <a:xfrm>
            <a:off x="723265" y="1122680"/>
            <a:ext cx="994473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 panose="020F0502020204030204"/>
              <a:buNone/>
            </a:pPr>
            <a:r>
              <a:rPr lang="en-US" altLang="en-US" sz="4800" dirty="0">
                <a:sym typeface="+mn-ea"/>
              </a:rPr>
              <a:t>Foundations of Software Development</a:t>
            </a:r>
            <a:endParaRPr lang="en-US" sz="4800"/>
          </a:p>
        </p:txBody>
      </p:sp>
      <p:sp>
        <p:nvSpPr>
          <p:cNvPr id="93" name="Google Shape;93;p14"/>
          <p:cNvSpPr txBox="1"/>
          <p:nvPr>
            <p:ph type="subTitle" idx="1"/>
          </p:nvPr>
        </p:nvSpPr>
        <p:spPr>
          <a:xfrm>
            <a:off x="839470" y="3509963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LAB 04 :  Functions</a:t>
            </a:r>
            <a:endParaRPr lang="en-US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</a:p>
        </p:txBody>
      </p:sp>
      <p:sp>
        <p:nvSpPr>
          <p:cNvPr id="94" name="Google Shape;94;p14"/>
          <p:cNvSpPr txBox="1"/>
          <p:nvPr/>
        </p:nvSpPr>
        <p:spPr>
          <a:xfrm flipH="1">
            <a:off x="1523908" y="5550971"/>
            <a:ext cx="2369100" cy="367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27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/12/2025</a:t>
            </a:r>
            <a:endParaRPr lang="en-US"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/>
        </p:nvSpPr>
        <p:spPr>
          <a:xfrm>
            <a:off x="828040" y="901065"/>
            <a:ext cx="3963035" cy="705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Recall : Loops</a:t>
            </a:r>
            <a:endParaRPr sz="40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05" name="Google Shape;205;p28"/>
          <p:cNvSpPr txBox="1"/>
          <p:nvPr/>
        </p:nvSpPr>
        <p:spPr>
          <a:xfrm>
            <a:off x="684530" y="1964055"/>
            <a:ext cx="11016615" cy="286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Char char="•"/>
            </a:pPr>
            <a:r>
              <a:rPr lang="en-US" sz="3600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break; 	           //end the loop </a:t>
            </a:r>
            <a:endParaRPr lang="en-US" sz="3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endParaRPr sz="3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 panose="020B0604020202020204"/>
              <a:buNone/>
            </a:pPr>
            <a:endParaRPr sz="36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571500" marR="0" lvl="0" indent="-5715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600"/>
              <a:buFont typeface="Arial" panose="020B0604020202020204" pitchFamily="34" charset="0"/>
              <a:buChar char="•"/>
            </a:pPr>
            <a:r>
              <a:rPr lang="en-US" sz="36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continue;</a:t>
            </a:r>
            <a:r>
              <a:rPr lang="en-US" sz="3600">
                <a:solidFill>
                  <a:srgbClr val="FF000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        </a:t>
            </a:r>
            <a:r>
              <a:rPr lang="en-US" sz="3600">
                <a:solidFill>
                  <a:schemeClr val="tx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// leave the current iteration, and go to    		              next iteration </a:t>
            </a:r>
            <a:endParaRPr lang="en-US" sz="3600">
              <a:solidFill>
                <a:schemeClr val="tx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484630"/>
            <a:ext cx="5461635" cy="228155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70" y="4437380"/>
            <a:ext cx="5146675" cy="214249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7464425" y="1988820"/>
            <a:ext cx="1356995" cy="10147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pPr algn="ctr"/>
            <a:r>
              <a:rPr lang="en-US" sz="2000">
                <a:solidFill>
                  <a:schemeClr val="tx1"/>
                </a:solidFill>
              </a:rPr>
              <a:t>output: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1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2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7392670" y="4725035"/>
            <a:ext cx="1356995" cy="132207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pPr algn="ctr"/>
            <a:r>
              <a:rPr lang="en-US" sz="2000">
                <a:solidFill>
                  <a:schemeClr val="tx1"/>
                </a:solidFill>
              </a:rPr>
              <a:t>output: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1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2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4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839470" y="548640"/>
            <a:ext cx="3707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Ex1:</a:t>
            </a:r>
            <a:endParaRPr lang="en-US" sz="3600"/>
          </a:p>
        </p:txBody>
      </p:sp>
      <p:sp>
        <p:nvSpPr>
          <p:cNvPr id="13" name="Text Box 12"/>
          <p:cNvSpPr txBox="1"/>
          <p:nvPr/>
        </p:nvSpPr>
        <p:spPr>
          <a:xfrm>
            <a:off x="767715" y="3717290"/>
            <a:ext cx="370776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Ex2:</a:t>
            </a:r>
            <a:endParaRPr lang="en-US" sz="3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  <p:bldP spid="13" grpId="0"/>
      <p:bldP spid="13" grpId="1"/>
      <p:bldP spid="11" grpId="0" bldLvl="0" animBg="1"/>
      <p:bldP spid="1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Google Shape;174;p24"/>
          <p:cNvPicPr preferRelativeResize="0"/>
          <p:nvPr>
            <p:ph type="body" idx="1"/>
          </p:nvPr>
        </p:nvPicPr>
        <p:blipFill rotWithShape="1">
          <a:blip r:embed="rId1"/>
          <a:srcRect/>
          <a:stretch>
            <a:fillRect/>
          </a:stretch>
        </p:blipFill>
        <p:spPr>
          <a:xfrm>
            <a:off x="779145" y="2309495"/>
            <a:ext cx="4697100" cy="386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4"/>
          <p:cNvPicPr preferRelativeResize="0"/>
          <p:nvPr>
            <p:ph type="body" idx="2"/>
          </p:nvPr>
        </p:nvPicPr>
        <p:blipFill rotWithShape="1">
          <a:blip r:embed="rId2"/>
          <a:srcRect/>
          <a:stretch>
            <a:fillRect/>
          </a:stretch>
        </p:blipFill>
        <p:spPr>
          <a:xfrm>
            <a:off x="6560820" y="2308860"/>
            <a:ext cx="5031600" cy="386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4"/>
          <p:cNvSpPr/>
          <p:nvPr/>
        </p:nvSpPr>
        <p:spPr>
          <a:xfrm>
            <a:off x="3394710" y="1203960"/>
            <a:ext cx="2731800" cy="93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158" y="24356"/>
                </a:moveTo>
                <a:lnTo>
                  <a:pt x="-20000" y="22500"/>
                </a:lnTo>
                <a:lnTo>
                  <a:pt x="-54038" y="169769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can’t use “x” outside the for loop</a:t>
            </a: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77" name="Google Shape;177;p24"/>
          <p:cNvSpPr/>
          <p:nvPr/>
        </p:nvSpPr>
        <p:spPr>
          <a:xfrm>
            <a:off x="9029700" y="1203960"/>
            <a:ext cx="2731800" cy="93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158" y="24356"/>
                </a:moveTo>
                <a:lnTo>
                  <a:pt x="-24630" y="20540"/>
                </a:lnTo>
                <a:lnTo>
                  <a:pt x="-25550" y="217997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can use “x” outside the for loop</a:t>
            </a: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839470" y="730250"/>
            <a:ext cx="4064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 b="1">
                <a:solidFill>
                  <a:schemeClr val="tx1"/>
                </a:solidFill>
              </a:rPr>
              <a:t>Remeber</a:t>
            </a:r>
            <a:endParaRPr lang="en-US" sz="3600" b="1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70" y="1772920"/>
            <a:ext cx="6812280" cy="256159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1055370" y="836930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200"/>
              <a:t>Ex3 :</a:t>
            </a:r>
            <a:endParaRPr lang="en-US" sz="3200"/>
          </a:p>
        </p:txBody>
      </p:sp>
      <p:sp>
        <p:nvSpPr>
          <p:cNvPr id="11" name="Text Box 10"/>
          <p:cNvSpPr txBox="1"/>
          <p:nvPr/>
        </p:nvSpPr>
        <p:spPr>
          <a:xfrm>
            <a:off x="8543925" y="2486660"/>
            <a:ext cx="1356995" cy="1014730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p>
            <a:pPr algn="ctr"/>
            <a:r>
              <a:rPr lang="en-US" sz="2000">
                <a:solidFill>
                  <a:schemeClr val="tx1"/>
                </a:solidFill>
              </a:rPr>
              <a:t>output: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0</a:t>
            </a:r>
            <a:endParaRPr lang="en-US" sz="2000">
              <a:solidFill>
                <a:schemeClr val="tx1"/>
              </a:solidFill>
            </a:endParaRPr>
          </a:p>
          <a:p>
            <a:pPr algn="ctr"/>
            <a:r>
              <a:rPr lang="en-US" sz="2000">
                <a:solidFill>
                  <a:schemeClr val="tx1"/>
                </a:solidFill>
              </a:rPr>
              <a:t>Yes</a:t>
            </a:r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6960235" y="909320"/>
            <a:ext cx="3205480" cy="93853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w="120000" h="120000" fill="none" extrusionOk="0">
                <a:moveTo>
                  <a:pt x="-1158" y="24356"/>
                </a:moveTo>
                <a:lnTo>
                  <a:pt x="-20000" y="22500"/>
                </a:lnTo>
                <a:lnTo>
                  <a:pt x="-54038" y="169769"/>
                </a:lnTo>
              </a:path>
            </a:pathLst>
          </a:custGeom>
          <a:solidFill>
            <a:schemeClr val="accent3"/>
          </a:solidFill>
          <a:ln w="12700" cap="flat" cmpd="sng">
            <a:solidFill>
              <a:srgbClr val="787878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you can write any statement</a:t>
            </a:r>
            <a:endParaRPr sz="1800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/>
      <p:bldP spid="11" grpId="0" animBg="1"/>
      <p:bldP spid="176" grpId="1" animBg="1"/>
      <p:bldP spid="11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Ex4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825625"/>
            <a:ext cx="9346565" cy="4351655"/>
          </a:xfrm>
        </p:spPr>
        <p:txBody>
          <a:bodyPr/>
          <a:p>
            <a:r>
              <a:rPr lang="en-US" sz="4000"/>
              <a:t>write a program that calculates</a:t>
            </a:r>
            <a:r>
              <a:rPr lang="en-US"/>
              <a:t>  </a:t>
            </a:r>
            <a:endParaRPr lang="en-US"/>
          </a:p>
        </p:txBody>
      </p:sp>
      <p:pic>
        <p:nvPicPr>
          <p:cNvPr id="5" name="2384804F-3998-4D57-9195-F3826E402611-1" descr="wpp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63975" y="2564765"/>
            <a:ext cx="724535" cy="72453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045" y="2637155"/>
            <a:ext cx="5008880" cy="37522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</a:pPr>
            <a:r>
              <a:rPr lang="en-US"/>
              <a:t>Content</a:t>
            </a:r>
            <a:endParaRPr lang="en-US"/>
          </a:p>
        </p:txBody>
      </p:sp>
      <p:sp>
        <p:nvSpPr>
          <p:cNvPr id="100" name="Google Shape;100;p15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Why Function ?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Function </a:t>
            </a:r>
            <a:r>
              <a:rPr lang="en-US" sz="3600"/>
              <a:t>Definition 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function call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Function parameters 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void Function and return Function </a:t>
            </a:r>
            <a:endParaRPr sz="3600"/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Char char="●"/>
            </a:pPr>
            <a:r>
              <a:rPr lang="en-US" sz="3600"/>
              <a:t>steps of calling a function </a:t>
            </a:r>
            <a:r>
              <a:rPr lang="en-US" sz="3600"/>
              <a:t> </a:t>
            </a:r>
            <a:endParaRPr sz="3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Function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r>
              <a:rPr lang="en-US"/>
              <a:t>It is a group of statments that perform a Task</a:t>
            </a:r>
            <a:endParaRPr lang="en-US"/>
          </a:p>
          <a:p>
            <a:r>
              <a:rPr lang="en-US"/>
              <a:t>Every C/C++ program has at least one function -----&gt; main()</a:t>
            </a:r>
            <a:endParaRPr lang="en-US"/>
          </a:p>
          <a:p>
            <a:r>
              <a:rPr lang="en-US"/>
              <a:t>Modular style, breaks your code into separate blocks of code</a:t>
            </a:r>
            <a:endParaRPr lang="en-US"/>
          </a:p>
          <a:p>
            <a:r>
              <a:rPr lang="en-US"/>
              <a:t>Benefits:</a:t>
            </a:r>
            <a:endParaRPr lang="en-US"/>
          </a:p>
          <a:p>
            <a:pPr lvl="1"/>
            <a:r>
              <a:rPr lang="en-US"/>
              <a:t>Don’t have to repeat the same block of code</a:t>
            </a:r>
            <a:endParaRPr lang="en-US"/>
          </a:p>
          <a:p>
            <a:pPr lvl="1"/>
            <a:r>
              <a:rPr lang="en-US"/>
              <a:t>Function re-usability</a:t>
            </a:r>
            <a:endParaRPr lang="en-US"/>
          </a:p>
          <a:p>
            <a:pPr lvl="1"/>
            <a:r>
              <a:rPr lang="en-US"/>
              <a:t>Easy to modify and expand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the need to use function ?</a:t>
            </a:r>
            <a:endParaRPr lang="en-US"/>
          </a:p>
        </p:txBody>
      </p:sp>
      <p:sp>
        <p:nvSpPr>
          <p:cNvPr id="124" name="Google Shape;124;p18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👍If we want to </a:t>
            </a:r>
            <a:r>
              <a:rPr lang="en-US">
                <a:solidFill>
                  <a:srgbClr val="FF0000"/>
                </a:solidFill>
              </a:rPr>
              <a:t>repeat a block of code several times</a:t>
            </a:r>
            <a:r>
              <a:rPr lang="en-US"/>
              <a:t> </a:t>
            </a:r>
            <a:endParaRPr lang="en-US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 👎Increase the length &amp; complexity of the program</a:t>
            </a:r>
            <a:endParaRPr lang="en-US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/>
              <a:t>👍But if we used functions </a:t>
            </a:r>
            <a:r>
              <a:rPr lang="en-US">
                <a:solidFill>
                  <a:srgbClr val="DC143C"/>
                </a:solidFill>
              </a:rPr>
              <a:t>we can call then as much  we need</a:t>
            </a:r>
            <a:endParaRPr>
              <a:solidFill>
                <a:srgbClr val="DC143C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pic>
        <p:nvPicPr>
          <p:cNvPr id="125" name="Google Shape;125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950975" y="3538400"/>
            <a:ext cx="2739075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837525" y="4669425"/>
            <a:ext cx="2979175" cy="37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18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224875" y="3576488"/>
            <a:ext cx="3543300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Rounded Rectangle 3"/>
          <p:cNvSpPr/>
          <p:nvPr/>
        </p:nvSpPr>
        <p:spPr>
          <a:xfrm>
            <a:off x="4655820" y="2493010"/>
            <a:ext cx="2376170" cy="14401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3600" b="1"/>
              <a:t>function</a:t>
            </a:r>
            <a:endParaRPr lang="en-US" sz="3600" b="1"/>
          </a:p>
        </p:txBody>
      </p:sp>
      <p:sp>
        <p:nvSpPr>
          <p:cNvPr id="6" name="Text Box 5"/>
          <p:cNvSpPr txBox="1"/>
          <p:nvPr/>
        </p:nvSpPr>
        <p:spPr>
          <a:xfrm>
            <a:off x="4927600" y="4149090"/>
            <a:ext cx="18319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tx1"/>
                </a:solidFill>
                <a:effectLst/>
              </a:rPr>
              <a:t>Black  box</a:t>
            </a:r>
            <a:endParaRPr lang="en-US" sz="2400" b="1">
              <a:ln w="22225">
                <a:solidFill>
                  <a:schemeClr val="accent2"/>
                </a:solidFill>
                <a:prstDash val="solid"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7103745" y="2997200"/>
            <a:ext cx="1368425" cy="4318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8" name="Text Box 7"/>
          <p:cNvSpPr txBox="1"/>
          <p:nvPr/>
        </p:nvSpPr>
        <p:spPr>
          <a:xfrm>
            <a:off x="8832215" y="3060065"/>
            <a:ext cx="125666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highlight>
                  <a:srgbClr val="FFFF00"/>
                </a:highlight>
              </a:rPr>
              <a:t>Outputs</a:t>
            </a:r>
            <a:endParaRPr lang="en-US" sz="2000" b="1">
              <a:highlight>
                <a:srgbClr val="FFFF00"/>
              </a:highlight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3143250" y="3043555"/>
            <a:ext cx="1368425" cy="431800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10" name="Text Box 9"/>
          <p:cNvSpPr txBox="1"/>
          <p:nvPr/>
        </p:nvSpPr>
        <p:spPr>
          <a:xfrm>
            <a:off x="1158875" y="3060065"/>
            <a:ext cx="158496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000" b="1">
                <a:highlight>
                  <a:srgbClr val="FFFF00"/>
                </a:highlight>
              </a:rPr>
              <a:t>Parameters</a:t>
            </a:r>
            <a:endParaRPr lang="en-US" sz="2000" b="1">
              <a:highlight>
                <a:srgbClr val="FFFF00"/>
              </a:highligh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/>
      <p:bldP spid="10" grpId="1"/>
      <p:bldP spid="8" grpId="0"/>
      <p:bldP spid="8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US" sz="3600" b="1">
                <a:solidFill>
                  <a:srgbClr val="25265E"/>
                </a:solidFill>
                <a:highlight>
                  <a:srgbClr val="F9FAFC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Function Definition</a:t>
            </a:r>
            <a:endParaRPr sz="3600"/>
          </a:p>
        </p:txBody>
      </p:sp>
      <p:sp>
        <p:nvSpPr>
          <p:cNvPr id="134" name="Google Shape;134;p19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00FF"/>
                </a:solidFill>
                <a:highlight>
                  <a:schemeClr val="lt1"/>
                </a:highlight>
              </a:rPr>
              <a:t>returnType</a:t>
            </a:r>
            <a:r>
              <a:rPr lang="en-US" sz="3600">
                <a:highlight>
                  <a:schemeClr val="lt1"/>
                </a:highlight>
              </a:rPr>
              <a:t> </a:t>
            </a:r>
            <a:r>
              <a:rPr lang="en-US" sz="3600">
                <a:solidFill>
                  <a:srgbClr val="DC143C"/>
                </a:solidFill>
                <a:highlight>
                  <a:schemeClr val="lt1"/>
                </a:highlight>
              </a:rPr>
              <a:t>functionName </a:t>
            </a:r>
            <a:r>
              <a:rPr lang="en-US" sz="3600">
                <a:highlight>
                  <a:schemeClr val="lt1"/>
                </a:highlight>
              </a:rPr>
              <a:t>(</a:t>
            </a:r>
            <a:r>
              <a:rPr lang="en-US" sz="3600">
                <a:solidFill>
                  <a:schemeClr val="accent6"/>
                </a:solidFill>
                <a:highlight>
                  <a:schemeClr val="lt1"/>
                </a:highlight>
              </a:rPr>
              <a:t>parameter1, parameter2,...</a:t>
            </a:r>
            <a:r>
              <a:rPr lang="en-US" sz="3600">
                <a:highlight>
                  <a:schemeClr val="lt1"/>
                </a:highlight>
              </a:rPr>
              <a:t>) {</a:t>
            </a:r>
            <a:endParaRPr sz="360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chemeClr val="lt1"/>
                </a:highlight>
              </a:rPr>
              <a:t>    // function body   </a:t>
            </a:r>
            <a:endParaRPr sz="3600">
              <a:highlight>
                <a:schemeClr val="lt1"/>
              </a:highlight>
            </a:endParaRPr>
          </a:p>
          <a:p>
            <a:pPr marL="152400" marR="152400" lvl="0" indent="0" algn="l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highlight>
                  <a:schemeClr val="lt1"/>
                </a:highlight>
              </a:rPr>
              <a:t>}</a:t>
            </a:r>
            <a:endParaRPr sz="3600">
              <a:highlight>
                <a:schemeClr val="lt1"/>
              </a:highlight>
            </a:endParaRPr>
          </a:p>
          <a:p>
            <a:pPr marL="457200" marR="152400" lvl="0" indent="-440055" algn="l" rtl="0">
              <a:lnSpc>
                <a:spcPct val="143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3600">
                <a:solidFill>
                  <a:srgbClr val="FF00FF"/>
                </a:solidFill>
                <a:highlight>
                  <a:schemeClr val="lt1"/>
                </a:highlight>
              </a:rPr>
              <a:t>returnType </a:t>
            </a:r>
            <a:r>
              <a:rPr lang="en-US" sz="3600">
                <a:highlight>
                  <a:schemeClr val="lt1"/>
                </a:highlight>
              </a:rPr>
              <a:t>(int,string,bool,char,</a:t>
            </a:r>
            <a:r>
              <a:rPr lang="en-US" sz="3600">
                <a:solidFill>
                  <a:srgbClr val="DC143C"/>
                </a:solidFill>
                <a:highlight>
                  <a:schemeClr val="lt1"/>
                </a:highlight>
              </a:rPr>
              <a:t>void</a:t>
            </a:r>
            <a:r>
              <a:rPr lang="en-US" sz="3600">
                <a:highlight>
                  <a:schemeClr val="lt1"/>
                </a:highlight>
              </a:rPr>
              <a:t>,float,....).</a:t>
            </a:r>
            <a:endParaRPr sz="3600">
              <a:highlight>
                <a:schemeClr val="lt1"/>
              </a:highlight>
            </a:endParaRPr>
          </a:p>
          <a:p>
            <a:pPr marL="457200" marR="152400" lvl="0" indent="-440055" algn="l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600">
                <a:solidFill>
                  <a:srgbClr val="FF0000"/>
                </a:solidFill>
                <a:highlight>
                  <a:schemeClr val="lt1"/>
                </a:highlight>
              </a:rPr>
              <a:t>FunctionName </a:t>
            </a:r>
            <a:r>
              <a:rPr lang="en-US" sz="3600">
                <a:highlight>
                  <a:schemeClr val="lt1"/>
                </a:highlight>
              </a:rPr>
              <a:t>like variable Name. </a:t>
            </a:r>
            <a:endParaRPr sz="3600">
              <a:highlight>
                <a:schemeClr val="lt1"/>
              </a:highlight>
            </a:endParaRPr>
          </a:p>
          <a:p>
            <a:pPr marL="457200" marR="152400" lvl="0" indent="-440055" algn="l" rtl="0">
              <a:lnSpc>
                <a:spcPct val="143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3600">
                <a:solidFill>
                  <a:schemeClr val="accent6"/>
                </a:solidFill>
                <a:highlight>
                  <a:schemeClr val="lt1"/>
                </a:highlight>
              </a:rPr>
              <a:t>Parameter </a:t>
            </a:r>
            <a:r>
              <a:rPr lang="en-US" sz="3600">
                <a:highlight>
                  <a:schemeClr val="lt1"/>
                </a:highlight>
              </a:rPr>
              <a:t>variables</a:t>
            </a:r>
            <a:r>
              <a:rPr lang="en-US" sz="3600">
                <a:highlight>
                  <a:schemeClr val="lt1"/>
                </a:highlight>
              </a:rPr>
              <a:t> passed to Function to use.</a:t>
            </a:r>
            <a:endParaRPr sz="3600">
              <a:highlight>
                <a:schemeClr val="lt1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</p:txBody>
      </p:sp>
      <p:cxnSp>
        <p:nvCxnSpPr>
          <p:cNvPr id="135" name="Google Shape;135;p19"/>
          <p:cNvCxnSpPr/>
          <p:nvPr/>
        </p:nvCxnSpPr>
        <p:spPr>
          <a:xfrm>
            <a:off x="843600" y="3560250"/>
            <a:ext cx="10530300" cy="29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lang="en-US" sz="3600">
                <a:solidFill>
                  <a:srgbClr val="70AD47"/>
                </a:solidFill>
                <a:highlight>
                  <a:srgbClr val="FFFFFF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Call a Function</a:t>
            </a:r>
            <a:endParaRPr sz="3600">
              <a:solidFill>
                <a:srgbClr val="70AD47"/>
              </a:solidFill>
            </a:endParaRPr>
          </a:p>
        </p:txBody>
      </p:sp>
      <p:sp>
        <p:nvSpPr>
          <p:cNvPr id="150" name="Google Shape;150;p21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400"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Verdana" panose="020B0604030504040204"/>
              <a:buChar char="●"/>
            </a:pPr>
            <a:r>
              <a:rPr lang="en-US" sz="2400"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Declared functions are not executed immediately. They are "saved for later use", and will be executed later, when they are called.</a:t>
            </a:r>
            <a:endParaRPr sz="2400"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2400">
              <a:highlight>
                <a:srgbClr val="FFFFFF"/>
              </a:highlight>
              <a:latin typeface="Verdana" panose="020B0604030504040204"/>
              <a:ea typeface="Verdana" panose="020B0604030504040204"/>
              <a:cs typeface="Verdana" panose="020B0604030504040204"/>
              <a:sym typeface="Verdana" panose="020B0604030504040204"/>
            </a:endParaRPr>
          </a:p>
          <a:p>
            <a:pPr marL="457200" lvl="0" indent="-3810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SzPts val="2400"/>
              <a:buChar char="●"/>
            </a:pPr>
            <a:r>
              <a:rPr lang="en-US" sz="2400"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To call a function, write the function's name followed by two parentheses </a:t>
            </a:r>
            <a:r>
              <a:rPr lang="en-US" sz="2400">
                <a:solidFill>
                  <a:srgbClr val="DC143C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()</a:t>
            </a:r>
            <a:r>
              <a:rPr lang="en-US" sz="2400">
                <a:highlight>
                  <a:srgbClr val="FFFFFF"/>
                </a:highlight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rPr>
              <a:t> and a semicolon </a:t>
            </a:r>
            <a:r>
              <a:rPr lang="en-US" sz="2400">
                <a:solidFill>
                  <a:srgbClr val="DC143C"/>
                </a:solidFill>
                <a:highlight>
                  <a:srgbClr val="FFFFFF"/>
                </a:highlight>
                <a:latin typeface="Courier New" panose="02070309020205020404"/>
                <a:ea typeface="Courier New" panose="02070309020205020404"/>
                <a:cs typeface="Courier New" panose="02070309020205020404"/>
                <a:sym typeface="Courier New" panose="02070309020205020404"/>
              </a:rPr>
              <a:t>;</a:t>
            </a:r>
            <a:endParaRPr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pPr algn="ctr"/>
            <a:r>
              <a:rPr lang="en-US"/>
              <a:t>Function Syntax</a:t>
            </a:r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38200" y="2060575"/>
            <a:ext cx="2566035" cy="64833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800" b="1"/>
              <a:t>Function Definition</a:t>
            </a:r>
            <a:endParaRPr lang="en-US" sz="1800" b="1"/>
          </a:p>
        </p:txBody>
      </p:sp>
      <p:sp>
        <p:nvSpPr>
          <p:cNvPr id="12" name="Rounded Rectangle 11"/>
          <p:cNvSpPr/>
          <p:nvPr/>
        </p:nvSpPr>
        <p:spPr>
          <a:xfrm>
            <a:off x="7680325" y="2132965"/>
            <a:ext cx="2566035" cy="648335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sz="1800" b="1"/>
              <a:t>Function Call</a:t>
            </a:r>
            <a:endParaRPr lang="en-US" sz="1800" b="1"/>
          </a:p>
        </p:txBody>
      </p:sp>
      <p:sp>
        <p:nvSpPr>
          <p:cNvPr id="14" name="Text Box 13"/>
          <p:cNvSpPr txBox="1"/>
          <p:nvPr/>
        </p:nvSpPr>
        <p:spPr>
          <a:xfrm>
            <a:off x="191135" y="3147060"/>
            <a:ext cx="4219575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return_data_type</a:t>
            </a:r>
            <a:r>
              <a:rPr lang="en-US"/>
              <a:t> </a:t>
            </a:r>
            <a:r>
              <a:rPr lang="en-US">
                <a:solidFill>
                  <a:srgbClr val="0070C0"/>
                </a:solidFill>
              </a:rPr>
              <a:t>function_name</a:t>
            </a:r>
            <a:r>
              <a:rPr lang="en-US"/>
              <a:t>(</a:t>
            </a:r>
            <a:r>
              <a:rPr lang="en-US">
                <a:solidFill>
                  <a:srgbClr val="00B050"/>
                </a:solidFill>
              </a:rPr>
              <a:t>param1,param2</a:t>
            </a:r>
            <a:r>
              <a:rPr lang="en-US"/>
              <a:t>)</a:t>
            </a:r>
            <a:endParaRPr lang="en-US"/>
          </a:p>
          <a:p>
            <a:r>
              <a:rPr lang="en-US"/>
              <a:t>{</a:t>
            </a:r>
            <a:endParaRPr lang="en-US"/>
          </a:p>
          <a:p>
            <a:r>
              <a:rPr lang="en-US"/>
              <a:t>        //statements</a:t>
            </a:r>
            <a:endParaRPr lang="en-US"/>
          </a:p>
          <a:p>
            <a:endParaRPr lang="en-US"/>
          </a:p>
          <a:p>
            <a:r>
              <a:rPr lang="en-US">
                <a:solidFill>
                  <a:srgbClr val="C00000"/>
                </a:solidFill>
              </a:rPr>
              <a:t>        //return</a:t>
            </a:r>
            <a:r>
              <a:rPr lang="en-US"/>
              <a:t> </a:t>
            </a:r>
            <a:endParaRPr lang="en-US"/>
          </a:p>
          <a:p>
            <a:endParaRPr lang="en-US"/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15" name="Text Box 14"/>
          <p:cNvSpPr txBox="1"/>
          <p:nvPr/>
        </p:nvSpPr>
        <p:spPr>
          <a:xfrm>
            <a:off x="479425" y="4827905"/>
            <a:ext cx="3596640" cy="1814830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</a:t>
            </a:r>
            <a:r>
              <a:rPr lang="en-US"/>
              <a:t> </a:t>
            </a:r>
            <a:r>
              <a:rPr lang="en-US">
                <a:solidFill>
                  <a:srgbClr val="0070C0"/>
                </a:solidFill>
              </a:rPr>
              <a:t>A</a:t>
            </a:r>
            <a:r>
              <a:rPr lang="en-US">
                <a:solidFill>
                  <a:srgbClr val="0070C0"/>
                </a:solidFill>
              </a:rPr>
              <a:t>dd</a:t>
            </a:r>
            <a:r>
              <a:rPr lang="en-US"/>
              <a:t>(</a:t>
            </a:r>
            <a:r>
              <a:rPr lang="en-US">
                <a:solidFill>
                  <a:srgbClr val="00B050"/>
                </a:solidFill>
              </a:rPr>
              <a:t>int x</a:t>
            </a:r>
            <a:r>
              <a:rPr lang="en-US">
                <a:solidFill>
                  <a:srgbClr val="00B050"/>
                </a:solidFill>
              </a:rPr>
              <a:t>,int y</a:t>
            </a:r>
            <a:r>
              <a:rPr lang="en-US"/>
              <a:t>)</a:t>
            </a:r>
            <a:endParaRPr lang="en-US"/>
          </a:p>
          <a:p>
            <a:r>
              <a:rPr lang="en-US"/>
              <a:t>{</a:t>
            </a:r>
            <a:endParaRPr lang="en-US"/>
          </a:p>
          <a:p>
            <a:r>
              <a:rPr lang="en-US"/>
              <a:t>        //statements</a:t>
            </a:r>
            <a:endParaRPr lang="en-US"/>
          </a:p>
          <a:p>
            <a:r>
              <a:rPr lang="en-US"/>
              <a:t>        int result = x + y;</a:t>
            </a:r>
            <a:endParaRPr lang="en-US"/>
          </a:p>
          <a:p>
            <a:endParaRPr lang="en-US"/>
          </a:p>
          <a:p>
            <a:r>
              <a:rPr lang="en-US">
                <a:solidFill>
                  <a:srgbClr val="C00000"/>
                </a:solidFill>
              </a:rPr>
              <a:t>        //return</a:t>
            </a:r>
            <a:r>
              <a:rPr lang="en-US"/>
              <a:t> </a:t>
            </a:r>
            <a:endParaRPr lang="en-US"/>
          </a:p>
          <a:p>
            <a:r>
              <a:rPr lang="en-US"/>
              <a:t>       </a:t>
            </a:r>
            <a:r>
              <a:rPr lang="en-US">
                <a:solidFill>
                  <a:srgbClr val="C00000"/>
                </a:solidFill>
              </a:rPr>
              <a:t> </a:t>
            </a:r>
            <a:r>
              <a:rPr lang="en-US">
                <a:solidFill>
                  <a:schemeClr val="tx1"/>
                </a:solidFill>
              </a:rPr>
              <a:t>return result;</a:t>
            </a:r>
            <a:endParaRPr lang="en-US">
              <a:solidFill>
                <a:srgbClr val="C00000"/>
              </a:solidFill>
            </a:endParaRPr>
          </a:p>
          <a:p>
            <a:r>
              <a:rPr lang="en-US"/>
              <a:t>}</a:t>
            </a:r>
            <a:endParaRPr lang="en-US"/>
          </a:p>
        </p:txBody>
      </p:sp>
      <p:sp>
        <p:nvSpPr>
          <p:cNvPr id="16" name="Text Box 15"/>
          <p:cNvSpPr txBox="1"/>
          <p:nvPr/>
        </p:nvSpPr>
        <p:spPr>
          <a:xfrm>
            <a:off x="7595235" y="3078480"/>
            <a:ext cx="3011170" cy="11684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int main()</a:t>
            </a:r>
            <a:endParaRPr lang="en-US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{</a:t>
            </a:r>
            <a:endParaRPr lang="en-US"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  <a:p>
            <a:r>
              <a:rPr lang="en-US">
                <a:solidFill>
                  <a:srgbClr val="0070C0"/>
                </a:solidFill>
              </a:rPr>
              <a:t>      </a:t>
            </a:r>
            <a:r>
              <a:rPr lang="en-US">
                <a:solidFill>
                  <a:schemeClr val="tx1"/>
                </a:solidFill>
              </a:rPr>
              <a:t>  int total =</a:t>
            </a:r>
            <a:r>
              <a:rPr lang="en-US">
                <a:solidFill>
                  <a:srgbClr val="0070C0"/>
                </a:solidFill>
              </a:rPr>
              <a:t> Add</a:t>
            </a:r>
            <a:r>
              <a:rPr lang="en-US"/>
              <a:t>(</a:t>
            </a:r>
            <a:r>
              <a:rPr lang="en-US">
                <a:solidFill>
                  <a:srgbClr val="00B050"/>
                </a:solidFill>
              </a:rPr>
              <a:t>3,4</a:t>
            </a:r>
            <a:r>
              <a:rPr lang="en-US"/>
              <a:t>);</a:t>
            </a:r>
            <a:endParaRPr lang="en-US"/>
          </a:p>
          <a:p>
            <a:r>
              <a:rPr lang="en-US"/>
              <a:t>        cout&lt;&lt;total&lt;&lt;endl;</a:t>
            </a:r>
            <a:endParaRPr lang="en-US"/>
          </a:p>
          <a:p>
            <a:r>
              <a:rPr lang="en-US"/>
              <a:t>}</a:t>
            </a:r>
            <a:endParaRPr lang="en-US"/>
          </a:p>
        </p:txBody>
      </p:sp>
      <p:cxnSp>
        <p:nvCxnSpPr>
          <p:cNvPr id="19" name="Straight Connector 18"/>
          <p:cNvCxnSpPr/>
          <p:nvPr/>
        </p:nvCxnSpPr>
        <p:spPr>
          <a:xfrm>
            <a:off x="6024245" y="2853055"/>
            <a:ext cx="11430" cy="34988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12" grpId="0" bldLvl="0" animBg="1"/>
      <p:bldP spid="9" grpId="1" animBg="1"/>
      <p:bldP spid="12" grpId="1" animBg="1"/>
      <p:bldP spid="14" grpId="0"/>
      <p:bldP spid="14" grpId="1"/>
      <p:bldP spid="15" grpId="0" bldLvl="0" animBg="1"/>
      <p:bldP spid="15" grpId="1" animBg="1"/>
      <p:bldP spid="16" grpId="0"/>
      <p:bldP spid="16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/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106" name="Google Shape;106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45575" y="1319213"/>
            <a:ext cx="4600575" cy="421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681375" y="345100"/>
            <a:ext cx="6946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Think about this code:</a:t>
            </a:r>
            <a:endParaRPr sz="3000"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" name="Rectangles 1"/>
          <p:cNvSpPr/>
          <p:nvPr/>
        </p:nvSpPr>
        <p:spPr>
          <a:xfrm>
            <a:off x="1415415" y="1700530"/>
            <a:ext cx="3096260" cy="781685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sp>
        <p:nvSpPr>
          <p:cNvPr id="3" name="Rectangles 2"/>
          <p:cNvSpPr/>
          <p:nvPr/>
        </p:nvSpPr>
        <p:spPr>
          <a:xfrm>
            <a:off x="2279650" y="2564765"/>
            <a:ext cx="2610485" cy="330835"/>
          </a:xfrm>
          <a:prstGeom prst="rect">
            <a:avLst/>
          </a:prstGeom>
          <a:noFill/>
          <a:ln w="28575">
            <a:solidFill>
              <a:srgbClr val="00B0F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  <p:pic>
        <p:nvPicPr>
          <p:cNvPr id="5" name="Picture Placeholder 4"/>
          <p:cNvPicPr>
            <a:picLocks noChangeAspect="1"/>
          </p:cNvPicPr>
          <p:nvPr>
            <p:ph type="pic" idx="2"/>
          </p:nvPr>
        </p:nvPicPr>
        <p:blipFill>
          <a:blip r:embed="rId2"/>
          <a:stretch>
            <a:fillRect/>
          </a:stretch>
        </p:blipFill>
        <p:spPr>
          <a:xfrm>
            <a:off x="6384290" y="188595"/>
            <a:ext cx="4392295" cy="3713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290" y="3933190"/>
            <a:ext cx="4711065" cy="25647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3" grpId="0" animBg="1"/>
      <p:bldP spid="3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(void datatype) </a:t>
            </a:r>
            <a:r>
              <a:rPr lang="en-US" sz="2400">
                <a:solidFill>
                  <a:srgbClr val="FF0000"/>
                </a:solidFill>
              </a:rPr>
              <a:t>doesn’t return any value</a:t>
            </a:r>
            <a:r>
              <a:rPr lang="en-US"/>
              <a:t> </a:t>
            </a:r>
            <a:endParaRPr lang="en-US"/>
          </a:p>
        </p:txBody>
      </p:sp>
      <p:sp>
        <p:nvSpPr>
          <p:cNvPr id="157" name="Google Shape;157;p22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pic>
        <p:nvPicPr>
          <p:cNvPr id="158" name="Google Shape;158;p22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838200" y="1795450"/>
            <a:ext cx="5543657" cy="435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2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6381838" y="2872250"/>
            <a:ext cx="6105525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Example [call many times]:</a:t>
            </a:r>
            <a:endParaRPr lang="en-US"/>
          </a:p>
        </p:txBody>
      </p:sp>
      <p:sp>
        <p:nvSpPr>
          <p:cNvPr id="166" name="Google Shape;166;p23"/>
          <p:cNvSpPr txBox="1"/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8100" y="1901825"/>
            <a:ext cx="12115800" cy="503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325" y="621030"/>
            <a:ext cx="11104880" cy="105029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3835" y="1557020"/>
            <a:ext cx="3317875" cy="50755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Ex2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>
          <a:xfrm>
            <a:off x="838200" y="1825625"/>
            <a:ext cx="9346565" cy="4351655"/>
          </a:xfrm>
        </p:spPr>
        <p:txBody>
          <a:bodyPr/>
          <a:p>
            <a:r>
              <a:rPr lang="en-US" sz="4000"/>
              <a:t>write a function that calculates</a:t>
            </a:r>
            <a:r>
              <a:rPr lang="en-US"/>
              <a:t>  </a:t>
            </a:r>
            <a:endParaRPr lang="en-US"/>
          </a:p>
        </p:txBody>
      </p:sp>
      <p:pic>
        <p:nvPicPr>
          <p:cNvPr id="5" name="2384804F-3998-4D57-9195-F3826E402611-2" descr="wp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3975" y="2564765"/>
            <a:ext cx="724535" cy="7245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3610" y="2421255"/>
            <a:ext cx="5331460" cy="295148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3610" y="5517515"/>
            <a:ext cx="5331460" cy="105346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>
            <a:normAutofit/>
          </a:bodyPr>
          <a:p>
            <a:r>
              <a:rPr lang="en-US"/>
              <a:t>Functions you can use directly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571500" lvl="1" indent="0">
              <a:buNone/>
            </a:pPr>
            <a:r>
              <a:rPr lang="en-US">
                <a:sym typeface="+mn-ea"/>
              </a:rPr>
              <a:t>ex1 : </a:t>
            </a:r>
            <a:endParaRPr lang="en-US"/>
          </a:p>
          <a:p>
            <a:pPr lvl="1"/>
            <a:r>
              <a:rPr lang="en-US">
                <a:sym typeface="+mn-ea"/>
              </a:rPr>
              <a:t>#include &lt;cmath&gt;</a:t>
            </a:r>
            <a:endParaRPr lang="en-US"/>
          </a:p>
          <a:p>
            <a:pPr marL="571500" lvl="1" indent="0">
              <a:buNone/>
            </a:pPr>
            <a:r>
              <a:rPr lang="en-US"/>
              <a:t>	sqrt(25);  		pow(2,3);</a:t>
            </a:r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114300" indent="0">
              <a:buNone/>
            </a:pPr>
            <a:r>
              <a:rPr lang="en-US"/>
              <a:t>void add(int x , int y ,int z)</a:t>
            </a:r>
            <a:endParaRPr lang="en-US"/>
          </a:p>
          <a:p>
            <a:pPr marL="114300" indent="0">
              <a:buNone/>
            </a:pPr>
            <a:r>
              <a:rPr lang="en-US"/>
              <a:t>{</a:t>
            </a:r>
            <a:endParaRPr lang="en-US"/>
          </a:p>
          <a:p>
            <a:pPr marL="114300" indent="0">
              <a:buNone/>
            </a:pPr>
            <a:r>
              <a:rPr lang="en-US"/>
              <a:t>	//statments</a:t>
            </a:r>
            <a:endParaRPr lang="en-US"/>
          </a:p>
          <a:p>
            <a:pPr marL="114300" indent="0">
              <a:buNone/>
            </a:pPr>
            <a:endParaRPr lang="en-US"/>
          </a:p>
          <a:p>
            <a:pPr marL="114300" indent="0">
              <a:buNone/>
            </a:pPr>
            <a:r>
              <a:rPr lang="en-US"/>
              <a:t>	//return</a:t>
            </a:r>
            <a:endParaRPr lang="en-US"/>
          </a:p>
          <a:p>
            <a:pPr marL="114300" indent="0">
              <a:buNone/>
            </a:pPr>
            <a:r>
              <a:rPr lang="en-US"/>
              <a:t>}</a:t>
            </a:r>
            <a:endParaRPr lang="en-US"/>
          </a:p>
        </p:txBody>
      </p:sp>
      <p:sp>
        <p:nvSpPr>
          <p:cNvPr id="4" name="Rounded Rectangle 3"/>
          <p:cNvSpPr/>
          <p:nvPr/>
        </p:nvSpPr>
        <p:spPr>
          <a:xfrm>
            <a:off x="6388100" y="1691005"/>
            <a:ext cx="5696585" cy="1871980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l"/>
            <a:r>
              <a:rPr lang="en-US" sz="2800"/>
              <a:t>void add(int x,y,z) </a:t>
            </a:r>
            <a:r>
              <a:rPr lang="en-US" sz="2800" b="1" u="sng">
                <a:solidFill>
                  <a:srgbClr val="FF0000"/>
                </a:solidFill>
              </a:rPr>
              <a:t>WrongSyntax</a:t>
            </a:r>
            <a:br>
              <a:rPr lang="en-US" sz="2800"/>
            </a:br>
            <a:r>
              <a:rPr lang="en-US" sz="2800"/>
              <a:t>{</a:t>
            </a:r>
            <a:endParaRPr lang="en-US" sz="2800"/>
          </a:p>
          <a:p>
            <a:pPr algn="l"/>
            <a:endParaRPr lang="en-US" sz="2800"/>
          </a:p>
          <a:p>
            <a:pPr algn="l"/>
            <a:r>
              <a:rPr lang="en-US" sz="2800"/>
              <a:t>}</a:t>
            </a:r>
            <a:endParaRPr lang="en-US" sz="2800"/>
          </a:p>
        </p:txBody>
      </p:sp>
      <p:sp>
        <p:nvSpPr>
          <p:cNvPr id="5" name="Freeform 4"/>
          <p:cNvSpPr/>
          <p:nvPr/>
        </p:nvSpPr>
        <p:spPr>
          <a:xfrm>
            <a:off x="4375150" y="826770"/>
            <a:ext cx="3312160" cy="995045"/>
          </a:xfrm>
          <a:custGeom>
            <a:avLst/>
            <a:gdLst>
              <a:gd name="connisteX0" fmla="*/ 0 w 3311902"/>
              <a:gd name="connsiteY0" fmla="*/ 994779 h 994779"/>
              <a:gd name="connisteX1" fmla="*/ 935990 w 3311902"/>
              <a:gd name="connsiteY1" fmla="*/ 285484 h 994779"/>
              <a:gd name="connisteX2" fmla="*/ 2927350 w 3311902"/>
              <a:gd name="connsiteY2" fmla="*/ 28944 h 994779"/>
              <a:gd name="connisteX3" fmla="*/ 3289935 w 3311902"/>
              <a:gd name="connsiteY3" fmla="*/ 768084 h 994779"/>
              <a:gd name="connisteX4" fmla="*/ 3244215 w 3311902"/>
              <a:gd name="connsiteY4" fmla="*/ 752844 h 994779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rect l="l" t="t" r="r" b="b"/>
            <a:pathLst>
              <a:path w="3311902" h="994779">
                <a:moveTo>
                  <a:pt x="0" y="994779"/>
                </a:moveTo>
                <a:cubicBezTo>
                  <a:pt x="147320" y="858254"/>
                  <a:pt x="350520" y="478524"/>
                  <a:pt x="935990" y="285484"/>
                </a:cubicBezTo>
                <a:cubicBezTo>
                  <a:pt x="1521460" y="92444"/>
                  <a:pt x="2456815" y="-67576"/>
                  <a:pt x="2927350" y="28944"/>
                </a:cubicBezTo>
                <a:cubicBezTo>
                  <a:pt x="3397885" y="125464"/>
                  <a:pt x="3226435" y="623304"/>
                  <a:pt x="3289935" y="768084"/>
                </a:cubicBezTo>
                <a:cubicBezTo>
                  <a:pt x="3353435" y="912864"/>
                  <a:pt x="3260725" y="770624"/>
                  <a:pt x="3244215" y="752844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5" grpId="0" animBg="1"/>
      <p:bldP spid="4" grpId="1" animBg="1"/>
      <p:bldP spid="5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621030"/>
            <a:ext cx="9372600" cy="13906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3385" y="2205355"/>
            <a:ext cx="6671310" cy="35096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1225" y="765175"/>
            <a:ext cx="10293350" cy="13519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845" y="2061210"/>
            <a:ext cx="3409315" cy="426148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1631315" y="2378075"/>
            <a:ext cx="4465955" cy="12534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/>
              <a:t>you can use</a:t>
            </a:r>
            <a:r>
              <a:rPr lang="en-US" sz="1800" b="1"/>
              <a:t> isupper(char) function</a:t>
            </a:r>
            <a:endParaRPr lang="en-US" sz="1800" b="1"/>
          </a:p>
          <a:p>
            <a:endParaRPr lang="en-US" sz="180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800" b="1"/>
              <a:t>returns 1</a:t>
            </a:r>
            <a:r>
              <a:rPr lang="en-US" sz="1800"/>
              <a:t> if the c is in Upper case</a:t>
            </a:r>
            <a:endParaRPr lang="en-US" sz="180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US" sz="1800" b="1"/>
              <a:t>else retruns 0</a:t>
            </a:r>
            <a:endParaRPr lang="en-US" sz="1800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/>
        <p:txBody>
          <a:bodyPr/>
          <a:p>
            <a:r>
              <a:rPr lang="en-US"/>
              <a:t>Hint:</a:t>
            </a:r>
            <a:endParaRPr lang="en-US"/>
          </a:p>
        </p:txBody>
      </p:sp>
      <p:sp>
        <p:nvSpPr>
          <p:cNvPr id="3" name="Text Placeholder 2"/>
          <p:cNvSpPr/>
          <p:nvPr>
            <p:ph type="body" idx="1"/>
          </p:nvPr>
        </p:nvSpPr>
        <p:spPr/>
        <p:txBody>
          <a:bodyPr/>
          <a:p>
            <a:pPr marL="0" lvl="1" indent="0">
              <a:buNone/>
            </a:pPr>
            <a:r>
              <a:rPr lang="en-US"/>
              <a:t>int add(int x=0; int y=1)</a:t>
            </a:r>
            <a:endParaRPr lang="en-US"/>
          </a:p>
          <a:p>
            <a:pPr marL="0" lvl="1" indent="0">
              <a:buNone/>
            </a:pPr>
            <a:r>
              <a:rPr lang="en-US"/>
              <a:t>{</a:t>
            </a:r>
            <a:endParaRPr lang="en-US"/>
          </a:p>
          <a:p>
            <a:pPr marL="0" lvl="1" indent="457200">
              <a:buNone/>
            </a:pPr>
            <a:r>
              <a:rPr lang="en-US"/>
              <a:t>return x+y;</a:t>
            </a:r>
            <a:endParaRPr lang="en-US"/>
          </a:p>
          <a:p>
            <a:pPr marL="0" lvl="1" indent="0">
              <a:buNone/>
            </a:pPr>
            <a:r>
              <a:rPr lang="en-US"/>
              <a:t>}</a:t>
            </a:r>
            <a:endParaRPr lang="en-US"/>
          </a:p>
          <a:p>
            <a:pPr marL="0" lvl="1" indent="0">
              <a:buNone/>
            </a:pPr>
            <a:endParaRPr lang="en-US"/>
          </a:p>
          <a:p>
            <a:pPr marL="0" lvl="1" indent="0">
              <a:buNone/>
            </a:pPr>
            <a:r>
              <a:rPr lang="en-US" b="1" u="sng">
                <a:solidFill>
                  <a:srgbClr val="FF0000"/>
                </a:solidFill>
              </a:rPr>
              <a:t>inside main()</a:t>
            </a:r>
            <a:endParaRPr lang="en-US" b="1" u="sng">
              <a:solidFill>
                <a:srgbClr val="FF0000"/>
              </a:solidFill>
            </a:endParaRPr>
          </a:p>
          <a:p>
            <a:pPr marL="0" lvl="1" indent="0">
              <a:buNone/>
            </a:pPr>
            <a:endParaRPr lang="en-US" b="1" u="sng">
              <a:solidFill>
                <a:srgbClr val="FF0000"/>
              </a:solidFill>
            </a:endParaRPr>
          </a:p>
          <a:p>
            <a:pPr marL="0" lvl="1" indent="0">
              <a:buNone/>
            </a:pPr>
            <a:r>
              <a:rPr lang="en-US"/>
              <a:t>cout&lt;&lt;add(10,2)&lt;&lt;endl;            //12</a:t>
            </a:r>
            <a:endParaRPr lang="en-US"/>
          </a:p>
          <a:p>
            <a:pPr marL="0" lvl="1" indent="0">
              <a:buNone/>
            </a:pPr>
            <a:r>
              <a:rPr lang="en-US">
                <a:sym typeface="+mn-ea"/>
              </a:rPr>
              <a:t>cout&lt;&lt;add(10)&lt;&lt;endl;		//11</a:t>
            </a:r>
            <a:endParaRPr lang="en-US"/>
          </a:p>
          <a:p>
            <a:pPr marL="0" lvl="1" indent="0">
              <a:buNone/>
            </a:pPr>
            <a:r>
              <a:rPr lang="en-US">
                <a:sym typeface="+mn-ea"/>
              </a:rPr>
              <a:t>cout&lt;&lt;add()&lt;&lt;endl;		//1</a:t>
            </a:r>
            <a:endParaRPr lang="en-US"/>
          </a:p>
          <a:p>
            <a:pPr marL="0" lvl="1" indent="0">
              <a:buNone/>
            </a:pPr>
            <a:endParaRPr lang="en-US"/>
          </a:p>
          <a:p>
            <a:pPr marL="571500" lvl="1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6"/>
          <p:cNvSpPr txBox="1"/>
          <p:nvPr>
            <p:ph type="title"/>
          </p:nvPr>
        </p:nvSpPr>
        <p:spPr>
          <a:xfrm>
            <a:off x="838200" y="2766150"/>
            <a:ext cx="10515600" cy="1325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Thank you 😊😊😊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item1.xml><?xml version="1.0" encoding="utf-8"?>
<s:customData xmlns="http://www.wps.cn/officeDocument/2013/wpsCustomData" xmlns:s="http://www.wps.cn/officeDocument/2013/wpsCustomData">
  <extobjs>
    <extobj name="2384804F-3998-4D57-9195-F3826E402611-1">
      <extobjdata type="2384804F-3998-4D57-9195-F3826E402611" data="ewoJIkltZ1NldHRpbmdKc29uIiA6ICJ7XCJoZWlnaHRcIjoxNi4wNzE0Mjg1NzE0Mjg1NyxcIndpZHRoXCI6MTYuMDcxNDI4NTcxNDI4NTd9IiwKCSJMYXRleCIgOiAiYV57Yn0iLAoJIkxhdGV4SW1nQmFzZTY0IiA6ICJQSE4yWnlCNGJXeHVjejBpYUhSMGNEb3ZMM2QzZHk1M015NXZjbWN2TWpBd01DOXpkbWNpSUhkcFpIUm9QU0l5TGpBM01XVjRJaUJvWldsbmFIUTlJakl1TURZM1pYZ2lJSEp2YkdVOUltbHRaeUlnWm05amRYTmhZbXhsUFNKbVlXeHpaU0lnZG1sbGQwSnZlRDBpTUNBdE9UQXpMamNnT1RFMUxqTWdPVEV6TGpjaUlIaHRiRzV6T25oc2FXNXJQU0pvZEhSd09pOHZkM2QzTG5jekxtOXlaeTh4T1RrNUwzaHNhVzVySWlCaGNtbGhMV2hwWkdSbGJqMGlkSEoxWlNJZ2MzUjViR1U5SW5abGNuUnBZMkZzTFdGc2FXZHVPaUF0TUM0d01qTmxlRHNnYldGNExYZHBaSFJvT2lBNU9DVTdJajQ4WkdWbWN6NDhjR0YwYUNCcFpEMGlUVXBZTFRFdFZFVllMVWt0TVVRME5FVWlJR1E5SWswek15QXhOVGRSTXpNZ01qVTRJREV3T1NBek5EbFVNamd3SURRME1WRXpNekVnTkRReElETTNNQ0F6T1RKUk16ZzJJRFF5TWlBME1UWWdOREl5VVRReU9TQTBNaklnTkRNNUlEUXhORlEwTkRrZ016azBVVFEwT1NBek9ERWdOREV5SURJek5GUXpOelFnTmpoUk16YzBJRFF6SURNNE1TQXpOVlEwTURJZ01qWlJOREV4SURJM0lEUXlNaUF6TlZFME5ETWdOVFVnTkRZeklERXpNVkUwTmprZ01UVXhJRFEzTXlBeE5USlJORGMxSURFMU15QTBPRE1nTVRVelNEUTROMUUxTURZZ01UVXpJRFV3TmlBeE5EUlJOVEEySURFek9DQTFNREVnTVRFM1ZEUTRNU0EyTTFRME5Ea2dNVE5STkRNMklEQWdOREUzSUMwNFVUUXdPU0F0TVRBZ016a3pJQzB4TUZFek5Ua2dMVEV3SURNek5pQTFWRE13TmlBek5rd3pNREFnTlRGUk1qazVJRFV5SURJNU5pQTFNRkV5T1RRZ05EZ2dNamt5SURRMlVUSXpNeUF0TVRBZ01UY3lJQzB4TUZFeE1UY2dMVEV3SURjMUlETXdWRE16SURFMU4xcE5NelV4SURNeU9GRXpOVEVnTXpNMElETTBOaUF6TlRCVU16SXpJRE00TlZReU56Y2dOREExVVRJME1pQTBNRFVnTWpFd0lETTNORlF4TmpBZ01qa3pVVEV6TVNBeU1UUWdNVEU1SURFeU9WRXhNVGtnTVRJMklERXhPU0F4TVRoVU1URTRJREV3TmxFeE1UZ2dOakVnTVRNMklEUTBWREUzT1NBeU5sRXlNVGNnTWpZZ01qVTBJRFU1VkRJNU9DQXhNVEJSTXpBd0lERXhOQ0F6TWpVZ01qRTNWRE0xTVNBek1qaGFJaTgrUEhCaGRHZ2dhV1E5SWsxS1dDMHhMVlJGV0MxSkxURkVORFJHSWlCa1BTSk5Oek1nTmpRM1VUY3pJRFkxTnlBM055QTJOekJVT0RrZ05qZ3pVVGt3SURZNE15QXhOakVnTmpnNFZESXpOQ0EyT1RSUk1qUTJJRFk1TkNBeU5EWWdOamcxVkRJeE1pQTFOREpSTWpBMElEVXdPQ0F4T1RVZ05EY3lWREU0TUNBME1UaE1NVGMySURNNU9WRXhOellnTXprMklERTRNaUEwTURKUk1qTXhJRFEwTWlBeU9ETWdORFF5VVRNME5TQTBORElnTXpneklETTVObFEwTWpJZ01qZ3dVVFF5TWlBeE5qa2dNelF6SURjNVZERTNNeUF0TVRGUk1USXpJQzB4TVNBNE1pQXlOMVEwTUNBeE5UQldNVFU1VVRRd0lERTRNQ0EwT0NBeU1UZFVPVGNnTkRFMFVURTBOeUEyTVRFZ01UUTNJRFl5TTFReE1Ea2dOak0zVVRFd05DQTJNemNnTVRBeElEWXpOMGc1TmxFNE5pQTJNemNnT0RNZ05qTTNWRGMySURZME1GUTNNeUEyTkRkYVRUTXpOaUF6TWpWV016TXhVVE16TmlBME1EVWdNamMxSURRd05WRXlOVGdnTkRBMUlESTBNQ0F6T1RkVU1qQTNJRE0zTmxReE9ERWdNelV5VkRFMk15QXpNekJNTVRVM0lETXlNa3d4TXpZZ01qTTJVVEV4TkNBeE5UQWdNVEUwSURFeE5GRXhNVFFnTmpZZ01UTTRJRFF5VVRFMU5DQXlOaUF4TnpnZ01qWlJNakV4SURJMklESTBOU0ExT0ZFeU56QWdPREVnTWpnMUlERXhORlF6TVRnZ01qRTVVVE16TmlBeU9URWdNek0ySURNeU5Wb2lMejQ4TDJSbFpuTStQR2NnYzNSeWIydGxQU0pqZFhKeVpXNTBRMjlzYjNJaUlHWnBiR3c5SW1OMWNuSmxiblJEYjJ4dmNpSWdjM1J5YjJ0bExYZHBaSFJvUFNJd0lpQjBjbUZ1YzJadmNtMDlJbk5qWVd4bEtERXNMVEVwSWo0OFp5QmtZWFJoTFcxdGJDMXViMlJsUFNKdFlYUm9JajQ4WnlCa1lYUmhMVzF0YkMxdWIyUmxQU0p0YzNWd0lqNDhaeUJrWVhSaExXMXRiQzF1YjJSbFBTSnRhU0krUEhWelpTQmtZWFJoTFdNOUlqRkVORFJGSWlCNGJHbHVhenBvY21WbVBTSWpUVXBZTFRFdFZFVllMVWt0TVVRME5FVWlMejQ4TDJjK1BHY2daR0YwWVMxdGJXd3RibTlrWlQwaVZHVllRWFJ2YlNJZ2RISmhibk5tYjNKdFBTSjBjbUZ1YzJ4aGRHVW9OVFl5TERReE15a2djMk5oYkdVb01DNDNNRGNwSWlCa1lYUmhMVzFxZUMxMFpYaGpiR0Z6Y3owaVQxSkVJajQ4WnlCa1lYUmhMVzF0YkMxdWIyUmxQU0p0YVNJK1BIVnpaU0JrWVhSaExXTTlJakZFTkRSR0lpQjRiR2x1YXpwb2NtVm1QU0lqVFVwWUxURXRWRVZZTFVrdE1VUTBORVlpTHo0OEwyYytQQzluUGp3dlp6NDhMMmMrUEM5blBqd3ZjM1puUGc9PSIsCgkiUmVhbFZpZXdTaXplSnNvbiIgOiAie1wiaGVpZ2h0XCI6MzIxLFwid2lkdGhcIjozMjF9Igp9Cg=="/>
    </extobj>
    <extobj name="2384804F-3998-4D57-9195-F3826E402611-2">
      <extobjdata type="2384804F-3998-4D57-9195-F3826E402611" data="ewoJIkltZ1NldHRpbmdKc29uIiA6ICJ7XCJoZWlnaHRcIjoxNi4wNzE0Mjg1NzE0Mjg1NyxcIndpZHRoXCI6MTYuMDcxNDI4NTcxNDI4NTd9IiwKCSJMYXRleCIgOiAiYV57Yn0iLAoJIkxhdGV4SW1nQmFzZTY0IiA6ICJQSE4yWnlCNGJXeHVjejBpYUhSMGNEb3ZMM2QzZHk1M015NXZjbWN2TWpBd01DOXpkbWNpSUhkcFpIUm9QU0l5TGpBM01XVjRJaUJvWldsbmFIUTlJakl1TURZM1pYZ2lJSEp2YkdVOUltbHRaeUlnWm05amRYTmhZbXhsUFNKbVlXeHpaU0lnZG1sbGQwSnZlRDBpTUNBdE9UQXpMamNnT1RFMUxqTWdPVEV6TGpjaUlIaHRiRzV6T25oc2FXNXJQU0pvZEhSd09pOHZkM2QzTG5jekxtOXlaeTh4T1RrNUwzaHNhVzVySWlCaGNtbGhMV2hwWkdSbGJqMGlkSEoxWlNJZ2MzUjViR1U5SW5abGNuUnBZMkZzTFdGc2FXZHVPaUF0TUM0d01qTmxlRHNnYldGNExYZHBaSFJvT2lBNU9DVTdJajQ4WkdWbWN6NDhjR0YwYUNCcFpEMGlUVXBZTFRFdFZFVllMVWt0TVVRME5FVWlJR1E5SWswek15QXhOVGRSTXpNZ01qVTRJREV3T1NBek5EbFVNamd3SURRME1WRXpNekVnTkRReElETTNNQ0F6T1RKUk16ZzJJRFF5TWlBME1UWWdOREl5VVRReU9TQTBNaklnTkRNNUlEUXhORlEwTkRrZ016azBVVFEwT1NBek9ERWdOREV5SURJek5GUXpOelFnTmpoUk16YzBJRFF6SURNNE1TQXpOVlEwTURJZ01qWlJOREV4SURJM0lEUXlNaUF6TlZFME5ETWdOVFVnTkRZeklERXpNVkUwTmprZ01UVXhJRFEzTXlBeE5USlJORGMxSURFMU15QTBPRE1nTVRVelNEUTROMUUxTURZZ01UVXpJRFV3TmlBeE5EUlJOVEEySURFek9DQTFNREVnTVRFM1ZEUTRNU0EyTTFRME5Ea2dNVE5STkRNMklEQWdOREUzSUMwNFVUUXdPU0F0TVRBZ016a3pJQzB4TUZFek5Ua2dMVEV3SURNek5pQTFWRE13TmlBek5rd3pNREFnTlRGUk1qazVJRFV5SURJNU5pQTFNRkV5T1RRZ05EZ2dNamt5SURRMlVUSXpNeUF0TVRBZ01UY3lJQzB4TUZFeE1UY2dMVEV3SURjMUlETXdWRE16SURFMU4xcE5NelV4SURNeU9GRXpOVEVnTXpNMElETTBOaUF6TlRCVU16SXpJRE00TlZReU56Y2dOREExVVRJME1pQTBNRFVnTWpFd0lETTNORlF4TmpBZ01qa3pVVEV6TVNBeU1UUWdNVEU1SURFeU9WRXhNVGtnTVRJMklERXhPU0F4TVRoVU1URTRJREV3TmxFeE1UZ2dOakVnTVRNMklEUTBWREUzT1NBeU5sRXlNVGNnTWpZZ01qVTBJRFU1VkRJNU9DQXhNVEJSTXpBd0lERXhOQ0F6TWpVZ01qRTNWRE0xTVNBek1qaGFJaTgrUEhCaGRHZ2dhV1E5SWsxS1dDMHhMVlJGV0MxSkxURkVORFJHSWlCa1BTSk5Oek1nTmpRM1VUY3pJRFkxTnlBM055QTJOekJVT0RrZ05qZ3pVVGt3SURZNE15QXhOakVnTmpnNFZESXpOQ0EyT1RSUk1qUTJJRFk1TkNBeU5EWWdOamcxVkRJeE1pQTFOREpSTWpBMElEVXdPQ0F4T1RVZ05EY3lWREU0TUNBME1UaE1NVGMySURNNU9WRXhOellnTXprMklERTRNaUEwTURKUk1qTXhJRFEwTWlBeU9ETWdORFF5VVRNME5TQTBORElnTXpneklETTVObFEwTWpJZ01qZ3dVVFF5TWlBeE5qa2dNelF6SURjNVZERTNNeUF0TVRGUk1USXpJQzB4TVNBNE1pQXlOMVEwTUNBeE5UQldNVFU1VVRRd0lERTRNQ0EwT0NBeU1UZFVPVGNnTkRFMFVURTBOeUEyTVRFZ01UUTNJRFl5TTFReE1Ea2dOak0zVVRFd05DQTJNemNnTVRBeElEWXpOMGc1TmxFNE5pQTJNemNnT0RNZ05qTTNWRGMySURZME1GUTNNeUEyTkRkYVRUTXpOaUF6TWpWV016TXhVVE16TmlBME1EVWdNamMxSURRd05WRXlOVGdnTkRBMUlESTBNQ0F6T1RkVU1qQTNJRE0zTmxReE9ERWdNelV5VkRFMk15QXpNekJNTVRVM0lETXlNa3d4TXpZZ01qTTJVVEV4TkNBeE5UQWdNVEUwSURFeE5GRXhNVFFnTmpZZ01UTTRJRFF5VVRFMU5DQXlOaUF4TnpnZ01qWlJNakV4SURJMklESTBOU0ExT0ZFeU56QWdPREVnTWpnMUlERXhORlF6TVRnZ01qRTVVVE16TmlBeU9URWdNek0ySURNeU5Wb2lMejQ4TDJSbFpuTStQR2NnYzNSeWIydGxQU0pqZFhKeVpXNTBRMjlzYjNJaUlHWnBiR3c5SW1OMWNuSmxiblJEYjJ4dmNpSWdjM1J5YjJ0bExYZHBaSFJvUFNJd0lpQjBjbUZ1YzJadmNtMDlJbk5qWVd4bEtERXNMVEVwSWo0OFp5QmtZWFJoTFcxdGJDMXViMlJsUFNKdFlYUm9JajQ4WnlCa1lYUmhMVzF0YkMxdWIyUmxQU0p0YzNWd0lqNDhaeUJrWVhSaExXMXRiQzF1YjJSbFBTSnRhU0krUEhWelpTQmtZWFJoTFdNOUlqRkVORFJGSWlCNGJHbHVhenBvY21WbVBTSWpUVXBZTFRFdFZFVllMVWt0TVVRME5FVWlMejQ4TDJjK1BHY2daR0YwWVMxdGJXd3RibTlrWlQwaVZHVllRWFJ2YlNJZ2RISmhibk5tYjNKdFBTSjBjbUZ1YzJ4aGRHVW9OVFl5TERReE15a2djMk5oYkdVb01DNDNNRGNwSWlCa1lYUmhMVzFxZUMxMFpYaGpiR0Z6Y3owaVQxSkVJajQ4WnlCa1lYUmhMVzF0YkMxdWIyUmxQU0p0YVNJK1BIVnpaU0JrWVhSaExXTTlJakZFTkRSR0lpQjRiR2x1YXpwb2NtVm1QU0lqVFVwWUxURXRWRVZZTFVrdE1VUTBORVlpTHo0OEwyYytQQzluUGp3dlp6NDhMMmMrUEM5blBqd3ZjM1puUGc9PSIsCgkiUmVhbFZpZXdTaXplSnNvbiIgOiAie1wiaGVpZ2h0XCI6MzIxLFwid2lkdGhcIjozMjF9Igp9Cg=="/>
    </extobj>
  </extobjs>
</s:customData>
</file>

<file path=customXml/itemProps1.xml><?xml version="1.0" encoding="utf-8"?>
<ds:datastoreItem xmlns:ds="http://schemas.openxmlformats.org/officeDocument/2006/customXml" ds:itemID="s:customData">
  <ds:schemaRefs>
    <ds:schemaRef ds:uri="http://www.wps.cn/officeDocument/2013/wpsCustomDat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2338</Words>
  <Application>WPS Presentation</Application>
  <PresentationFormat/>
  <Paragraphs>174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Verdana</vt:lpstr>
      <vt:lpstr>Courier New</vt:lpstr>
      <vt:lpstr>Office Theme</vt:lpstr>
      <vt:lpstr>CSE 131: Computer Programming</vt:lpstr>
      <vt:lpstr>PowerPoint 演示文稿</vt:lpstr>
      <vt:lpstr>PowerPoint 演示文稿</vt:lpstr>
      <vt:lpstr>PowerPoint 演示文稿</vt:lpstr>
      <vt:lpstr>PowerPoint 演示文稿</vt:lpstr>
      <vt:lpstr>Ex4</vt:lpstr>
      <vt:lpstr>Content</vt:lpstr>
      <vt:lpstr>Function</vt:lpstr>
      <vt:lpstr>Why the need to use function ?</vt:lpstr>
      <vt:lpstr>PowerPoint 演示文稿</vt:lpstr>
      <vt:lpstr>Function Definition</vt:lpstr>
      <vt:lpstr>Call a Function</vt:lpstr>
      <vt:lpstr>Function Syntax</vt:lpstr>
      <vt:lpstr>PowerPoint 演示文稿</vt:lpstr>
      <vt:lpstr>Example (void datatype) doesn’t return any value </vt:lpstr>
      <vt:lpstr>Example [call many times]:</vt:lpstr>
      <vt:lpstr>PowerPoint 演示文稿</vt:lpstr>
      <vt:lpstr>Ex2</vt:lpstr>
      <vt:lpstr>Functions you can use directly</vt:lpstr>
      <vt:lpstr>PowerPoint 演示文稿</vt:lpstr>
      <vt:lpstr>PowerPoint 演示文稿</vt:lpstr>
      <vt:lpstr>PowerPoint 演示文稿</vt:lpstr>
      <vt:lpstr>Hint:</vt:lpstr>
      <vt:lpstr>Thank you 😊😊😊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131: Computer Programming</dc:title>
  <dc:creator/>
  <cp:lastModifiedBy>Ahmed hossam</cp:lastModifiedBy>
  <cp:revision>19</cp:revision>
  <dcterms:created xsi:type="dcterms:W3CDTF">2023-04-16T12:13:00Z</dcterms:created>
  <dcterms:modified xsi:type="dcterms:W3CDTF">2025-12-27T00:02:20Z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1928DD314E264BB1B843B9F58CA5B7F0_13</vt:lpwstr>
  </property>
  <property fmtid="{D5CDD505-2E9C-101B-9397-08002B2CF9AE}" pid="3" name="KSOProductBuildVer">
    <vt:lpwstr>1033-12.2.0.23155</vt:lpwstr>
  </property>
</Properties>
</file>